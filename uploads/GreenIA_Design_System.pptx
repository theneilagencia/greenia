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 da plataforma GreenIA.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pilares da linguagem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símbolo e o wordmark, recoloríveis.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Paleta de marca em tokens.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Cores funcionais de classificação.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 tipográfica.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 de espaçamento e raio.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Sistema de ícones: linha fina, cantos suaves.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Variantes e tamanhos de botão.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Chips de sugestão e tags de classificação.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Campos de formulário e o campo de pergunta.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Cards e avisos.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Balões de mensagem do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82500" y="4762500"/>
            <a:ext cx="7810500" cy="781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1047750"/>
            <a:ext cx="419321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8" kern="0" dirty="0">
                <a:solidFill>
                  <a:srgbClr val="D6F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DA PLATAFORMA</a:t>
            </a:r>
            <a:endParaRPr lang="en-US" sz="1425" dirty="0"/>
          </a:p>
        </p:txBody>
      </p:sp>
      <p:sp>
        <p:nvSpPr>
          <p:cNvPr id="4" name="Text 1"/>
          <p:cNvSpPr/>
          <p:nvPr/>
        </p:nvSpPr>
        <p:spPr>
          <a:xfrm>
            <a:off x="15825713" y="1047750"/>
            <a:ext cx="134644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8" kern="0" dirty="0">
                <a:solidFill>
                  <a:srgbClr val="D6F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 · 2026</a:t>
            </a:r>
            <a:endParaRPr lang="en-US" sz="1425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8250" y="3862685"/>
            <a:ext cx="1104900" cy="1104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609850" y="3948410"/>
            <a:ext cx="3880686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350" spc="-147" kern="0" dirty="0">
                <a:solidFill>
                  <a:srgbClr val="FAF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</a:t>
            </a:r>
            <a:pPr algn="l" indent="0" marL="0">
              <a:buNone/>
            </a:pPr>
            <a:r>
              <a:rPr lang="en-US" sz="7350" spc="-147" kern="0" dirty="0">
                <a:solidFill>
                  <a:srgbClr val="B9E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</a:t>
            </a:r>
            <a:endParaRPr lang="en-US" sz="7350" dirty="0"/>
          </a:p>
        </p:txBody>
      </p:sp>
      <p:sp>
        <p:nvSpPr>
          <p:cNvPr id="7" name="Text 3"/>
          <p:cNvSpPr/>
          <p:nvPr/>
        </p:nvSpPr>
        <p:spPr>
          <a:xfrm>
            <a:off x="1238250" y="5348585"/>
            <a:ext cx="11576685" cy="1080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600" spc="-72" kern="0" dirty="0">
                <a:solidFill>
                  <a:srgbClr val="E9E0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blocos da plataforma em um só lugar — tokens, tipografia e padrões de interface.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1238250" y="9001125"/>
            <a:ext cx="173926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42" kern="0" dirty="0">
                <a:solidFill>
                  <a:srgbClr val="D6F0A0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de Serviços Compartilhados · Material Confidencial</a:t>
            </a:r>
            <a:endParaRPr lang="en-US" sz="14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52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38250" y="1219200"/>
            <a:ext cx="17392650" cy="632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spc="-99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Acessível, humana, segura.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38250" y="2156445"/>
            <a:ext cx="5092675" cy="6563692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66875" y="4826273"/>
            <a:ext cx="465896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1F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Verde + neutros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666875" y="5359673"/>
            <a:ext cx="4362488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Verdes confiantes sobre neutros calorosos. Sem gradientes, sem ruído.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6597625" y="2156445"/>
            <a:ext cx="5092675" cy="6563692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26250" y="4826273"/>
            <a:ext cx="465896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1F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Editorial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7026250" y="5359673"/>
            <a:ext cx="4362488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Newsreader para títulos, Hanken Grotesk para texto e interface.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1957000" y="2156445"/>
            <a:ext cx="5092750" cy="6563692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5625" y="4826273"/>
            <a:ext cx="46590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1F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Calma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2385625" y="5359673"/>
            <a:ext cx="4362565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Cantos suaves, traço fino, muito espaço. Nada grita.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238250" y="9063038"/>
            <a:ext cx="1581150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14" name="Text 12"/>
          <p:cNvSpPr/>
          <p:nvPr/>
        </p:nvSpPr>
        <p:spPr>
          <a:xfrm>
            <a:off x="1238250" y="9244013"/>
            <a:ext cx="298854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GREENIA · DESIGN SYSTEM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6395874" y="9244013"/>
            <a:ext cx="7300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13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52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LOGOMARCA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38250" y="1219200"/>
            <a:ext cx="17392650" cy="632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spc="-99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marca e o símbolo.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38250" y="2156445"/>
            <a:ext cx="6564064" cy="6563692"/>
          </a:xfrm>
          <a:prstGeom prst="roundRect">
            <a:avLst>
              <a:gd name="adj" fmla="val 203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28775" y="4914379"/>
            <a:ext cx="1047750" cy="1047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905125" y="5123929"/>
            <a:ext cx="259031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950" spc="-99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</a:t>
            </a:r>
            <a:pPr algn="l" indent="0" marL="0">
              <a:buNone/>
            </a:pPr>
            <a:r>
              <a:rPr lang="en-US" sz="4950" spc="-99" kern="0" dirty="0">
                <a:solidFill>
                  <a:srgbClr val="1F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</a:t>
            </a:r>
            <a:endParaRPr lang="en-US" sz="4950" dirty="0"/>
          </a:p>
        </p:txBody>
      </p:sp>
      <p:sp>
        <p:nvSpPr>
          <p:cNvPr id="7" name="Shape 4"/>
          <p:cNvSpPr/>
          <p:nvPr/>
        </p:nvSpPr>
        <p:spPr>
          <a:xfrm>
            <a:off x="8049964" y="2156445"/>
            <a:ext cx="4376068" cy="6563692"/>
          </a:xfrm>
          <a:prstGeom prst="roundRect">
            <a:avLst>
              <a:gd name="adj" fmla="val 3047"/>
            </a:avLst>
          </a:prstGeom>
          <a:solidFill>
            <a:srgbClr val="0F3A2A"/>
          </a:solidFill>
          <a:ln w="9525">
            <a:solidFill>
              <a:srgbClr val="0F3A2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66461" y="4866754"/>
            <a:ext cx="1143000" cy="1143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2673682" y="2156445"/>
            <a:ext cx="4375993" cy="6563692"/>
          </a:xfrm>
          <a:prstGeom prst="roundRect">
            <a:avLst>
              <a:gd name="adj" fmla="val 3047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290179" y="4866754"/>
            <a:ext cx="1143000" cy="11430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238250" y="9063038"/>
            <a:ext cx="1581150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12" name="Text 7"/>
          <p:cNvSpPr/>
          <p:nvPr/>
        </p:nvSpPr>
        <p:spPr>
          <a:xfrm>
            <a:off x="1238250" y="9244013"/>
            <a:ext cx="298854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GREENIA · DESIGN SYSTEM</a:t>
            </a:r>
            <a:endParaRPr lang="en-US" sz="1275" dirty="0"/>
          </a:p>
        </p:txBody>
      </p:sp>
      <p:sp>
        <p:nvSpPr>
          <p:cNvPr id="13" name="Text 8"/>
          <p:cNvSpPr/>
          <p:nvPr/>
        </p:nvSpPr>
        <p:spPr>
          <a:xfrm>
            <a:off x="16395874" y="9244013"/>
            <a:ext cx="7300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13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52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CORES · TOKENS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38250" y="1219200"/>
            <a:ext cx="17392650" cy="632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spc="-99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Paleta de marca.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38250" y="3552304"/>
            <a:ext cx="302508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7775" y="3561829"/>
            <a:ext cx="3006030" cy="1143000"/>
          </a:xfrm>
          <a:prstGeom prst="rect">
            <a:avLst/>
          </a:prstGeom>
          <a:solidFill>
            <a:srgbClr val="0F3A2A"/>
          </a:solidFill>
          <a:ln/>
        </p:spPr>
      </p:sp>
      <p:sp>
        <p:nvSpPr>
          <p:cNvPr id="6" name="Text 4"/>
          <p:cNvSpPr/>
          <p:nvPr/>
        </p:nvSpPr>
        <p:spPr>
          <a:xfrm>
            <a:off x="1419225" y="4857229"/>
            <a:ext cx="292944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1419225" y="5085829"/>
            <a:ext cx="292944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--deep · #0F3A2A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34780" y="3552304"/>
            <a:ext cx="3025155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44305" y="3561829"/>
            <a:ext cx="3006105" cy="114300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10" name="Text 8"/>
          <p:cNvSpPr/>
          <p:nvPr/>
        </p:nvSpPr>
        <p:spPr>
          <a:xfrm>
            <a:off x="4615755" y="4857229"/>
            <a:ext cx="29295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4615755" y="5085829"/>
            <a:ext cx="29295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--forest · #1F8A5B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31385" y="3552304"/>
            <a:ext cx="3025155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40910" y="3561829"/>
            <a:ext cx="3006105" cy="1143000"/>
          </a:xfrm>
          <a:prstGeom prst="rect">
            <a:avLst/>
          </a:prstGeom>
          <a:solidFill>
            <a:srgbClr val="3FAE74"/>
          </a:solidFill>
          <a:ln/>
        </p:spPr>
      </p:sp>
      <p:sp>
        <p:nvSpPr>
          <p:cNvPr id="14" name="Text 12"/>
          <p:cNvSpPr/>
          <p:nvPr/>
        </p:nvSpPr>
        <p:spPr>
          <a:xfrm>
            <a:off x="7812360" y="4857229"/>
            <a:ext cx="29295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7812360" y="5085829"/>
            <a:ext cx="29295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--leaf · #3FAE74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827990" y="3552304"/>
            <a:ext cx="3025155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37515" y="3561829"/>
            <a:ext cx="3006105" cy="1143000"/>
          </a:xfrm>
          <a:prstGeom prst="rect">
            <a:avLst/>
          </a:prstGeom>
          <a:solidFill>
            <a:srgbClr val="B9E85A"/>
          </a:solidFill>
          <a:ln/>
        </p:spPr>
      </p:sp>
      <p:sp>
        <p:nvSpPr>
          <p:cNvPr id="18" name="Text 16"/>
          <p:cNvSpPr/>
          <p:nvPr/>
        </p:nvSpPr>
        <p:spPr>
          <a:xfrm>
            <a:off x="11008965" y="4857229"/>
            <a:ext cx="29295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11008965" y="5085829"/>
            <a:ext cx="29295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--spark · #B9E85A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4024595" y="3552304"/>
            <a:ext cx="3025155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034120" y="3561829"/>
            <a:ext cx="3006105" cy="1143000"/>
          </a:xfrm>
          <a:prstGeom prst="rect">
            <a:avLst/>
          </a:prstGeom>
          <a:solidFill>
            <a:srgbClr val="16241D"/>
          </a:solidFill>
          <a:ln/>
        </p:spPr>
      </p:sp>
      <p:sp>
        <p:nvSpPr>
          <p:cNvPr id="22" name="Text 20"/>
          <p:cNvSpPr/>
          <p:nvPr/>
        </p:nvSpPr>
        <p:spPr>
          <a:xfrm>
            <a:off x="14205570" y="4857229"/>
            <a:ext cx="29295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14205570" y="5085829"/>
            <a:ext cx="29295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--ink · #16241D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238250" y="5647804"/>
            <a:ext cx="3025080" cy="1676400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47775" y="5657329"/>
            <a:ext cx="3006030" cy="914400"/>
          </a:xfrm>
          <a:prstGeom prst="rect">
            <a:avLst/>
          </a:prstGeom>
          <a:solidFill>
            <a:srgbClr val="FAF7EF"/>
          </a:solidFill>
          <a:ln/>
        </p:spPr>
      </p:sp>
      <p:sp>
        <p:nvSpPr>
          <p:cNvPr id="26" name="Shape 24"/>
          <p:cNvSpPr/>
          <p:nvPr/>
        </p:nvSpPr>
        <p:spPr>
          <a:xfrm>
            <a:off x="1247775" y="6562204"/>
            <a:ext cx="300603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27" name="Text 25"/>
          <p:cNvSpPr/>
          <p:nvPr/>
        </p:nvSpPr>
        <p:spPr>
          <a:xfrm>
            <a:off x="1419225" y="6724129"/>
            <a:ext cx="292944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1419225" y="6952729"/>
            <a:ext cx="292944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--paper · #FAF7EF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434780" y="5647804"/>
            <a:ext cx="3025155" cy="1676400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44305" y="5657329"/>
            <a:ext cx="3006105" cy="914400"/>
          </a:xfrm>
          <a:prstGeom prst="rect">
            <a:avLst/>
          </a:prstGeom>
          <a:solidFill>
            <a:srgbClr val="F1EAD9"/>
          </a:solidFill>
          <a:ln/>
        </p:spPr>
      </p:sp>
      <p:sp>
        <p:nvSpPr>
          <p:cNvPr id="31" name="Text 29"/>
          <p:cNvSpPr/>
          <p:nvPr/>
        </p:nvSpPr>
        <p:spPr>
          <a:xfrm>
            <a:off x="4615755" y="6724129"/>
            <a:ext cx="29295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4615755" y="6952729"/>
            <a:ext cx="29295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--sand · #F1EAD9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631385" y="5647804"/>
            <a:ext cx="3025155" cy="1676400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40910" y="5657329"/>
            <a:ext cx="3006105" cy="914400"/>
          </a:xfrm>
          <a:prstGeom prst="rect">
            <a:avLst/>
          </a:prstGeom>
          <a:solidFill>
            <a:srgbClr val="E6F0E7"/>
          </a:solidFill>
          <a:ln/>
        </p:spPr>
      </p:sp>
      <p:sp>
        <p:nvSpPr>
          <p:cNvPr id="35" name="Text 33"/>
          <p:cNvSpPr/>
          <p:nvPr/>
        </p:nvSpPr>
        <p:spPr>
          <a:xfrm>
            <a:off x="7812360" y="6724129"/>
            <a:ext cx="29295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7812360" y="6952729"/>
            <a:ext cx="29295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--mist · #E6F0E7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10827990" y="5647804"/>
            <a:ext cx="3025155" cy="1676400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837515" y="5657329"/>
            <a:ext cx="3006105" cy="914400"/>
          </a:xfrm>
          <a:prstGeom prst="rect">
            <a:avLst/>
          </a:prstGeom>
          <a:solidFill>
            <a:srgbClr val="E9E0CD"/>
          </a:solidFill>
          <a:ln/>
        </p:spPr>
      </p:sp>
      <p:sp>
        <p:nvSpPr>
          <p:cNvPr id="39" name="Text 37"/>
          <p:cNvSpPr/>
          <p:nvPr/>
        </p:nvSpPr>
        <p:spPr>
          <a:xfrm>
            <a:off x="11008965" y="6724129"/>
            <a:ext cx="29295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</a:t>
            </a:r>
            <a:endParaRPr lang="en-US" sz="1575" dirty="0"/>
          </a:p>
        </p:txBody>
      </p:sp>
      <p:sp>
        <p:nvSpPr>
          <p:cNvPr id="40" name="Text 38"/>
          <p:cNvSpPr/>
          <p:nvPr/>
        </p:nvSpPr>
        <p:spPr>
          <a:xfrm>
            <a:off x="11008965" y="6952729"/>
            <a:ext cx="29295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--cream · #E9E0CD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14024595" y="5647804"/>
            <a:ext cx="3025155" cy="1676400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034120" y="5657329"/>
            <a:ext cx="3006105" cy="914400"/>
          </a:xfrm>
          <a:prstGeom prst="rect">
            <a:avLst/>
          </a:prstGeom>
          <a:solidFill>
            <a:srgbClr val="6E6C62"/>
          </a:solidFill>
          <a:ln/>
        </p:spPr>
      </p:sp>
      <p:sp>
        <p:nvSpPr>
          <p:cNvPr id="43" name="Text 41"/>
          <p:cNvSpPr/>
          <p:nvPr/>
        </p:nvSpPr>
        <p:spPr>
          <a:xfrm>
            <a:off x="14205570" y="6724129"/>
            <a:ext cx="29295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Muted</a:t>
            </a:r>
            <a:endParaRPr lang="en-US" sz="1575" dirty="0"/>
          </a:p>
        </p:txBody>
      </p:sp>
      <p:sp>
        <p:nvSpPr>
          <p:cNvPr id="44" name="Text 42"/>
          <p:cNvSpPr/>
          <p:nvPr/>
        </p:nvSpPr>
        <p:spPr>
          <a:xfrm>
            <a:off x="14205570" y="6952729"/>
            <a:ext cx="29295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--muted · #6E6C62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1238250" y="9063038"/>
            <a:ext cx="1581150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46" name="Text 44"/>
          <p:cNvSpPr/>
          <p:nvPr/>
        </p:nvSpPr>
        <p:spPr>
          <a:xfrm>
            <a:off x="1238250" y="9244013"/>
            <a:ext cx="298854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GREENIA · DESIGN SYSTEM</a:t>
            </a:r>
            <a:endParaRPr lang="en-US" sz="1275" dirty="0"/>
          </a:p>
        </p:txBody>
      </p:sp>
      <p:sp>
        <p:nvSpPr>
          <p:cNvPr id="47" name="Text 45"/>
          <p:cNvSpPr/>
          <p:nvPr/>
        </p:nvSpPr>
        <p:spPr>
          <a:xfrm>
            <a:off x="16395874" y="9244013"/>
            <a:ext cx="7300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13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52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CORES FUNCIONAIS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38250" y="1219200"/>
            <a:ext cx="17392650" cy="632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spc="-99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três cores dos dados.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38250" y="2156445"/>
            <a:ext cx="5092675" cy="6563692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7775" y="2165970"/>
            <a:ext cx="5073625" cy="15240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6" name="Shape 4"/>
          <p:cNvSpPr/>
          <p:nvPr/>
        </p:nvSpPr>
        <p:spPr>
          <a:xfrm>
            <a:off x="1571625" y="2730326"/>
            <a:ext cx="152400" cy="152400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7" name="Text 5"/>
          <p:cNvSpPr/>
          <p:nvPr/>
        </p:nvSpPr>
        <p:spPr>
          <a:xfrm>
            <a:off x="1838325" y="2642220"/>
            <a:ext cx="82294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571625" y="3104183"/>
            <a:ext cx="4868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--forest · uso livre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571625" y="3447083"/>
            <a:ext cx="4558703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 público ou interno sem sigilo. Liberado na hora.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6597625" y="2156445"/>
            <a:ext cx="5092675" cy="6563692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07150" y="2165970"/>
            <a:ext cx="5073625" cy="152400"/>
          </a:xfrm>
          <a:prstGeom prst="rect">
            <a:avLst/>
          </a:prstGeom>
          <a:solidFill>
            <a:srgbClr val="D8A23C"/>
          </a:solidFill>
          <a:ln/>
        </p:spPr>
      </p:sp>
      <p:sp>
        <p:nvSpPr>
          <p:cNvPr id="12" name="Shape 10"/>
          <p:cNvSpPr/>
          <p:nvPr/>
        </p:nvSpPr>
        <p:spPr>
          <a:xfrm>
            <a:off x="6931000" y="2730326"/>
            <a:ext cx="152400" cy="152400"/>
          </a:xfrm>
          <a:prstGeom prst="ellipse">
            <a:avLst/>
          </a:prstGeom>
          <a:solidFill>
            <a:srgbClr val="D8A23C"/>
          </a:solidFill>
          <a:ln/>
        </p:spPr>
      </p:sp>
      <p:sp>
        <p:nvSpPr>
          <p:cNvPr id="13" name="Text 11"/>
          <p:cNvSpPr/>
          <p:nvPr/>
        </p:nvSpPr>
        <p:spPr>
          <a:xfrm>
            <a:off x="7197700" y="2642220"/>
            <a:ext cx="114024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Amarela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931000" y="3104183"/>
            <a:ext cx="4868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--amber · proteção média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931000" y="3447083"/>
            <a:ext cx="4558703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 interno compartilhado. Retenção com prazo; tarefa registrada.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1957000" y="2156445"/>
            <a:ext cx="5092750" cy="6563692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66525" y="2165970"/>
            <a:ext cx="5073700" cy="152400"/>
          </a:xfrm>
          <a:prstGeom prst="rect">
            <a:avLst/>
          </a:prstGeom>
          <a:solidFill>
            <a:srgbClr val="BF5340"/>
          </a:solidFill>
          <a:ln/>
        </p:spPr>
      </p:sp>
      <p:sp>
        <p:nvSpPr>
          <p:cNvPr id="18" name="Shape 16"/>
          <p:cNvSpPr/>
          <p:nvPr/>
        </p:nvSpPr>
        <p:spPr>
          <a:xfrm>
            <a:off x="12290375" y="2730326"/>
            <a:ext cx="152400" cy="152400"/>
          </a:xfrm>
          <a:prstGeom prst="ellipse">
            <a:avLst/>
          </a:prstGeom>
          <a:solidFill>
            <a:srgbClr val="BF5340"/>
          </a:solidFill>
          <a:ln/>
        </p:spPr>
      </p:sp>
      <p:sp>
        <p:nvSpPr>
          <p:cNvPr id="19" name="Text 17"/>
          <p:cNvSpPr/>
          <p:nvPr/>
        </p:nvSpPr>
        <p:spPr>
          <a:xfrm>
            <a:off x="12557075" y="2642220"/>
            <a:ext cx="132794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Vermelha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290375" y="3104183"/>
            <a:ext cx="48686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--brick · ZDR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2290375" y="3447083"/>
            <a:ext cx="4558780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 regulado ou sensível. A IA não guarda nada; exige aval da Segurança.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1238250" y="9063038"/>
            <a:ext cx="1581150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23" name="Text 21"/>
          <p:cNvSpPr/>
          <p:nvPr/>
        </p:nvSpPr>
        <p:spPr>
          <a:xfrm>
            <a:off x="1238250" y="9244013"/>
            <a:ext cx="298854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GREENIA · DESIGN SYSTEM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16395874" y="9244013"/>
            <a:ext cx="7300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13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52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TIPOGRAFIA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38250" y="1219200"/>
            <a:ext cx="17392650" cy="632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spc="-99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 tipográfica.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38250" y="2118345"/>
            <a:ext cx="15811500" cy="6639892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6875" y="4312444"/>
            <a:ext cx="1495425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6" name="Text 4"/>
          <p:cNvSpPr/>
          <p:nvPr/>
        </p:nvSpPr>
        <p:spPr>
          <a:xfrm>
            <a:off x="1666875" y="3802856"/>
            <a:ext cx="19907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 / 64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800475" y="3412331"/>
            <a:ext cx="3779594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spc="-120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para todos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1666875" y="5141119"/>
            <a:ext cx="1495425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9" name="Text 7"/>
          <p:cNvSpPr/>
          <p:nvPr/>
        </p:nvSpPr>
        <p:spPr>
          <a:xfrm>
            <a:off x="1666875" y="4660106"/>
            <a:ext cx="19907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Título / 42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800475" y="4531519"/>
            <a:ext cx="522139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spc="-63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Resumir, rascunhar, organizar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1666875" y="5879306"/>
            <a:ext cx="1495425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12" name="Text 10"/>
          <p:cNvSpPr/>
          <p:nvPr/>
        </p:nvSpPr>
        <p:spPr>
          <a:xfrm>
            <a:off x="1666875" y="5441156"/>
            <a:ext cx="19907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Subtítulo / 28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800475" y="5360194"/>
            <a:ext cx="295195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Assistente do dia a dia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666875" y="7016502"/>
            <a:ext cx="1495425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15" name="Text 13"/>
          <p:cNvSpPr/>
          <p:nvPr/>
        </p:nvSpPr>
        <p:spPr>
          <a:xfrm>
            <a:off x="1666875" y="6184106"/>
            <a:ext cx="19907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Corpo / 24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800475" y="6098381"/>
            <a:ext cx="7456170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de interface em Hanken Grotesk peso 400. A ênfase vem da cor e do peso 500.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66875" y="7249864"/>
            <a:ext cx="19907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Eyebrow / 21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00475" y="7235577"/>
            <a:ext cx="33194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52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 ALTA · ESPAÇADA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1238250" y="9063038"/>
            <a:ext cx="1581150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20" name="Text 18"/>
          <p:cNvSpPr/>
          <p:nvPr/>
        </p:nvSpPr>
        <p:spPr>
          <a:xfrm>
            <a:off x="1238250" y="9244013"/>
            <a:ext cx="298854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GREENIA · DESIGN SYSTEM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6395874" y="9244013"/>
            <a:ext cx="7300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13</a:t>
            </a:r>
            <a:endParaRPr lang="en-US" sz="12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52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ESPAÇAMENTO &amp; RAIO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38250" y="1219200"/>
            <a:ext cx="17392650" cy="632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spc="-99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Ritmo e cantos.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38250" y="2156445"/>
            <a:ext cx="7772400" cy="6563692"/>
          </a:xfrm>
          <a:prstGeom prst="roundRect">
            <a:avLst>
              <a:gd name="adj" fmla="val 203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28775" y="2546970"/>
            <a:ext cx="76904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8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ESPAÇAMENTO · BASE 4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1628775" y="3004170"/>
            <a:ext cx="647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390775" y="3004170"/>
            <a:ext cx="38100" cy="20955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8" name="Text 6"/>
          <p:cNvSpPr/>
          <p:nvPr/>
        </p:nvSpPr>
        <p:spPr>
          <a:xfrm>
            <a:off x="1628775" y="3366120"/>
            <a:ext cx="647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390775" y="3366120"/>
            <a:ext cx="76200" cy="20955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10" name="Text 8"/>
          <p:cNvSpPr/>
          <p:nvPr/>
        </p:nvSpPr>
        <p:spPr>
          <a:xfrm>
            <a:off x="1628775" y="3728070"/>
            <a:ext cx="647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390775" y="3728070"/>
            <a:ext cx="152400" cy="20955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12" name="Text 10"/>
          <p:cNvSpPr/>
          <p:nvPr/>
        </p:nvSpPr>
        <p:spPr>
          <a:xfrm>
            <a:off x="1628775" y="4090020"/>
            <a:ext cx="647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390775" y="4090020"/>
            <a:ext cx="228600" cy="20955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14" name="Text 12"/>
          <p:cNvSpPr/>
          <p:nvPr/>
        </p:nvSpPr>
        <p:spPr>
          <a:xfrm>
            <a:off x="1628775" y="4451970"/>
            <a:ext cx="647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390775" y="4451970"/>
            <a:ext cx="304800" cy="20955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16" name="Text 14"/>
          <p:cNvSpPr/>
          <p:nvPr/>
        </p:nvSpPr>
        <p:spPr>
          <a:xfrm>
            <a:off x="1628775" y="4813920"/>
            <a:ext cx="647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390775" y="4813920"/>
            <a:ext cx="457200" cy="20955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18" name="Text 16"/>
          <p:cNvSpPr/>
          <p:nvPr/>
        </p:nvSpPr>
        <p:spPr>
          <a:xfrm>
            <a:off x="1628775" y="5175870"/>
            <a:ext cx="647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390775" y="5175870"/>
            <a:ext cx="609600" cy="20955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20" name="Shape 18"/>
          <p:cNvSpPr/>
          <p:nvPr/>
        </p:nvSpPr>
        <p:spPr>
          <a:xfrm>
            <a:off x="9277350" y="2156445"/>
            <a:ext cx="7772400" cy="6563692"/>
          </a:xfrm>
          <a:prstGeom prst="roundRect">
            <a:avLst>
              <a:gd name="adj" fmla="val 203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67875" y="2546970"/>
            <a:ext cx="76904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8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RAIO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9667875" y="3004170"/>
            <a:ext cx="1143000" cy="838200"/>
          </a:xfrm>
          <a:prstGeom prst="roundRect">
            <a:avLst>
              <a:gd name="adj" fmla="val 9091"/>
            </a:avLst>
          </a:prstGeom>
          <a:solidFill>
            <a:srgbClr val="E6F0E7"/>
          </a:solidFill>
          <a:ln w="14288">
            <a:solidFill>
              <a:srgbClr val="3FAE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30705" y="3956670"/>
            <a:ext cx="69346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· sm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1058525" y="3004170"/>
            <a:ext cx="1143000" cy="838200"/>
          </a:xfrm>
          <a:prstGeom prst="roundRect">
            <a:avLst>
              <a:gd name="adj" fmla="val 13636"/>
            </a:avLst>
          </a:prstGeom>
          <a:solidFill>
            <a:srgbClr val="E6F0E7"/>
          </a:solidFill>
          <a:ln w="14288">
            <a:solidFill>
              <a:srgbClr val="3FAE7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269935" y="3956670"/>
            <a:ext cx="79630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· md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2449175" y="3004170"/>
            <a:ext cx="1143000" cy="838200"/>
          </a:xfrm>
          <a:prstGeom prst="roundRect">
            <a:avLst>
              <a:gd name="adj" fmla="val 18182"/>
            </a:avLst>
          </a:prstGeom>
          <a:solidFill>
            <a:srgbClr val="E6F0E7"/>
          </a:solidFill>
          <a:ln w="14288">
            <a:solidFill>
              <a:srgbClr val="3FAE7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660585" y="3956670"/>
            <a:ext cx="79630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· lg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3839825" y="3004170"/>
            <a:ext cx="1143000" cy="838200"/>
          </a:xfrm>
          <a:prstGeom prst="roundRect">
            <a:avLst>
              <a:gd name="adj" fmla="val 50000"/>
            </a:avLst>
          </a:prstGeom>
          <a:solidFill>
            <a:srgbClr val="E6F0E7"/>
          </a:solidFill>
          <a:ln w="14288">
            <a:solidFill>
              <a:srgbClr val="3FAE7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205570" y="3956670"/>
            <a:ext cx="48771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pill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1238250" y="9063038"/>
            <a:ext cx="1581150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31" name="Text 29"/>
          <p:cNvSpPr/>
          <p:nvPr/>
        </p:nvSpPr>
        <p:spPr>
          <a:xfrm>
            <a:off x="1238250" y="9244013"/>
            <a:ext cx="298854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GREENIA · DESIGN SYSTEM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16395874" y="9244013"/>
            <a:ext cx="7300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13</a:t>
            </a:r>
            <a:endParaRPr lang="en-US" sz="12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52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ÍCONES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38250" y="1219200"/>
            <a:ext cx="17392650" cy="632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spc="-99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Linha fina, cantos suaves.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38250" y="2156445"/>
            <a:ext cx="15811500" cy="6563692"/>
          </a:xfrm>
          <a:prstGeom prst="roundRect">
            <a:avLst>
              <a:gd name="adj" fmla="val 203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01466" y="5171554"/>
            <a:ext cx="533400" cy="5334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8847" y="5171554"/>
            <a:ext cx="533400" cy="5334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6228" y="5171554"/>
            <a:ext cx="533400" cy="53340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23609" y="5171554"/>
            <a:ext cx="533400" cy="533400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30991" y="5171554"/>
            <a:ext cx="533400" cy="533400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38372" y="5171554"/>
            <a:ext cx="533400" cy="533400"/>
          </a:xfrm>
          <a:prstGeom prst="rect">
            <a:avLst/>
          </a:prstGeom>
        </p:spPr>
      </p:pic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645753" y="5171554"/>
            <a:ext cx="533400" cy="533400"/>
          </a:xfrm>
          <a:prstGeom prst="rect">
            <a:avLst/>
          </a:prstGeom>
        </p:spPr>
      </p:pic>
      <p:pic>
        <p:nvPicPr>
          <p:cNvPr id="1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553134" y="5171554"/>
            <a:ext cx="533400" cy="533400"/>
          </a:xfrm>
          <a:prstGeom prst="rect">
            <a:avLst/>
          </a:prstGeom>
        </p:spPr>
      </p:pic>
      <p:sp>
        <p:nvSpPr>
          <p:cNvPr id="13" name="Shape 3"/>
          <p:cNvSpPr/>
          <p:nvPr/>
        </p:nvSpPr>
        <p:spPr>
          <a:xfrm>
            <a:off x="1238250" y="9063038"/>
            <a:ext cx="1581150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14" name="Text 4"/>
          <p:cNvSpPr/>
          <p:nvPr/>
        </p:nvSpPr>
        <p:spPr>
          <a:xfrm>
            <a:off x="1238250" y="9244013"/>
            <a:ext cx="298854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GREENIA · DESIGN SYSTEM</a:t>
            </a:r>
            <a:endParaRPr lang="en-US" sz="1275" dirty="0"/>
          </a:p>
        </p:txBody>
      </p:sp>
      <p:sp>
        <p:nvSpPr>
          <p:cNvPr id="15" name="Text 5"/>
          <p:cNvSpPr/>
          <p:nvPr/>
        </p:nvSpPr>
        <p:spPr>
          <a:xfrm>
            <a:off x="16395874" y="9244013"/>
            <a:ext cx="7300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13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52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38250" y="1219200"/>
            <a:ext cx="17392650" cy="632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spc="-99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Botões.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38250" y="2156445"/>
            <a:ext cx="15811500" cy="6563692"/>
          </a:xfrm>
          <a:prstGeom prst="roundRect">
            <a:avLst>
              <a:gd name="adj" fmla="val 203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9275" y="4571479"/>
            <a:ext cx="2159794" cy="604838"/>
          </a:xfrm>
          <a:prstGeom prst="roundRect">
            <a:avLst>
              <a:gd name="adj" fmla="val 18898"/>
            </a:avLst>
          </a:prstGeom>
          <a:solidFill>
            <a:srgbClr val="1F8A5B"/>
          </a:solidFill>
          <a:ln/>
        </p:spPr>
      </p:sp>
      <p:sp>
        <p:nvSpPr>
          <p:cNvPr id="6" name="Text 4"/>
          <p:cNvSpPr/>
          <p:nvPr/>
        </p:nvSpPr>
        <p:spPr>
          <a:xfrm>
            <a:off x="2181225" y="4742929"/>
            <a:ext cx="151209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 no chat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07669" y="4576242"/>
            <a:ext cx="2035969" cy="595313"/>
          </a:xfrm>
          <a:prstGeom prst="roundRect">
            <a:avLst>
              <a:gd name="adj" fmla="val 19200"/>
            </a:avLst>
          </a:prstGeom>
          <a:ln w="14288">
            <a:solidFill>
              <a:srgbClr val="1F8A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4856" y="4742929"/>
            <a:ext cx="139779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a política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24638" y="4742929"/>
            <a:ext cx="99104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Cancelar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920484" y="4571479"/>
            <a:ext cx="2029420" cy="604838"/>
          </a:xfrm>
          <a:prstGeom prst="roundRect">
            <a:avLst>
              <a:gd name="adj" fmla="val 18898"/>
            </a:avLst>
          </a:prstGeom>
          <a:solidFill>
            <a:srgbClr val="0F3A2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82434" y="4769123"/>
            <a:ext cx="209550" cy="2095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596759" y="4747692"/>
            <a:ext cx="1067395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9E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Continuar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819275" y="5835923"/>
            <a:ext cx="13620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8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TAMANHOS</a:t>
            </a:r>
            <a:endParaRPr lang="en-US" sz="1575" dirty="0"/>
          </a:p>
        </p:txBody>
      </p:sp>
      <p:sp>
        <p:nvSpPr>
          <p:cNvPr id="14" name="Shape 11"/>
          <p:cNvSpPr/>
          <p:nvPr/>
        </p:nvSpPr>
        <p:spPr>
          <a:xfrm>
            <a:off x="3286125" y="5743054"/>
            <a:ext cx="1143744" cy="414338"/>
          </a:xfrm>
          <a:prstGeom prst="roundRect">
            <a:avLst>
              <a:gd name="adj" fmla="val 20690"/>
            </a:avLst>
          </a:prstGeom>
          <a:solidFill>
            <a:srgbClr val="1F8A5B"/>
          </a:solidFill>
          <a:ln/>
        </p:spPr>
      </p:sp>
      <p:sp>
        <p:nvSpPr>
          <p:cNvPr id="15" name="Text 12"/>
          <p:cNvSpPr/>
          <p:nvPr/>
        </p:nvSpPr>
        <p:spPr>
          <a:xfrm>
            <a:off x="3495675" y="5847829"/>
            <a:ext cx="80084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Pequeno</a:t>
            </a:r>
            <a:endParaRPr lang="en-US" sz="1425" dirty="0"/>
          </a:p>
        </p:txBody>
      </p:sp>
      <p:sp>
        <p:nvSpPr>
          <p:cNvPr id="16" name="Shape 13"/>
          <p:cNvSpPr/>
          <p:nvPr/>
        </p:nvSpPr>
        <p:spPr>
          <a:xfrm>
            <a:off x="4658469" y="5657329"/>
            <a:ext cx="1270322" cy="585788"/>
          </a:xfrm>
          <a:prstGeom prst="roundRect">
            <a:avLst>
              <a:gd name="adj" fmla="val 19512"/>
            </a:avLst>
          </a:prstGeom>
          <a:solidFill>
            <a:srgbClr val="1F8A5B"/>
          </a:solidFill>
          <a:ln/>
        </p:spPr>
      </p:sp>
      <p:sp>
        <p:nvSpPr>
          <p:cNvPr id="17" name="Text 14"/>
          <p:cNvSpPr/>
          <p:nvPr/>
        </p:nvSpPr>
        <p:spPr>
          <a:xfrm>
            <a:off x="4982319" y="5819254"/>
            <a:ext cx="69882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Médio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157392" y="5595417"/>
            <a:ext cx="1689720" cy="709613"/>
          </a:xfrm>
          <a:prstGeom prst="roundRect">
            <a:avLst>
              <a:gd name="adj" fmla="val 18792"/>
            </a:avLst>
          </a:prstGeom>
          <a:solidFill>
            <a:srgbClr val="1F8A5B"/>
          </a:solidFill>
          <a:ln/>
        </p:spPr>
      </p:sp>
      <p:sp>
        <p:nvSpPr>
          <p:cNvPr id="19" name="Text 16"/>
          <p:cNvSpPr/>
          <p:nvPr/>
        </p:nvSpPr>
        <p:spPr>
          <a:xfrm>
            <a:off x="6557442" y="5795442"/>
            <a:ext cx="96582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Grande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1238250" y="9063038"/>
            <a:ext cx="1581150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21" name="Text 18"/>
          <p:cNvSpPr/>
          <p:nvPr/>
        </p:nvSpPr>
        <p:spPr>
          <a:xfrm>
            <a:off x="1238250" y="9244013"/>
            <a:ext cx="298854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GREENIA · DESIGN SYSTEM</a:t>
            </a:r>
            <a:endParaRPr lang="en-US" sz="1275" dirty="0"/>
          </a:p>
        </p:txBody>
      </p:sp>
      <p:sp>
        <p:nvSpPr>
          <p:cNvPr id="22" name="Text 19"/>
          <p:cNvSpPr/>
          <p:nvPr/>
        </p:nvSpPr>
        <p:spPr>
          <a:xfrm>
            <a:off x="16395874" y="9244013"/>
            <a:ext cx="7300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13</a:t>
            </a:r>
            <a:endParaRPr lang="en-US" sz="12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52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38250" y="1219200"/>
            <a:ext cx="17392650" cy="632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spc="-99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Chips &amp; Tags.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38250" y="2156445"/>
            <a:ext cx="15811500" cy="6563692"/>
          </a:xfrm>
          <a:prstGeom prst="roundRect">
            <a:avLst>
              <a:gd name="adj" fmla="val 203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19275" y="4330973"/>
            <a:ext cx="161143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8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CHIPS DE SUGESTÃO</a:t>
            </a:r>
            <a:endParaRPr lang="en-US" sz="1575" dirty="0"/>
          </a:p>
        </p:txBody>
      </p:sp>
      <p:sp>
        <p:nvSpPr>
          <p:cNvPr id="6" name="Shape 4"/>
          <p:cNvSpPr/>
          <p:nvPr/>
        </p:nvSpPr>
        <p:spPr>
          <a:xfrm>
            <a:off x="1819275" y="4750073"/>
            <a:ext cx="1912739" cy="547688"/>
          </a:xfrm>
          <a:prstGeom prst="roundRect">
            <a:avLst>
              <a:gd name="adj" fmla="val 50000"/>
            </a:avLst>
          </a:prstGeom>
          <a:solidFill>
            <a:srgbClr val="E6F0E7"/>
          </a:solidFill>
          <a:ln/>
        </p:spPr>
      </p:sp>
      <p:sp>
        <p:nvSpPr>
          <p:cNvPr id="7" name="Text 5"/>
          <p:cNvSpPr/>
          <p:nvPr/>
        </p:nvSpPr>
        <p:spPr>
          <a:xfrm>
            <a:off x="2066925" y="4873898"/>
            <a:ext cx="149363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Resumir texto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884414" y="4750073"/>
            <a:ext cx="2267322" cy="547688"/>
          </a:xfrm>
          <a:prstGeom prst="roundRect">
            <a:avLst>
              <a:gd name="adj" fmla="val 50000"/>
            </a:avLst>
          </a:prstGeom>
          <a:solidFill>
            <a:srgbClr val="E6F0E7"/>
          </a:solidFill>
          <a:ln/>
        </p:spPr>
      </p:sp>
      <p:sp>
        <p:nvSpPr>
          <p:cNvPr id="9" name="Text 7"/>
          <p:cNvSpPr/>
          <p:nvPr/>
        </p:nvSpPr>
        <p:spPr>
          <a:xfrm>
            <a:off x="4132064" y="4873898"/>
            <a:ext cx="184822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Rascunhar e-mail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04136" y="4750073"/>
            <a:ext cx="2285702" cy="547688"/>
          </a:xfrm>
          <a:prstGeom prst="roundRect">
            <a:avLst>
              <a:gd name="adj" fmla="val 50000"/>
            </a:avLst>
          </a:prstGeom>
          <a:solidFill>
            <a:srgbClr val="E6F0E7"/>
          </a:solidFill>
          <a:ln/>
        </p:spPr>
      </p:sp>
      <p:sp>
        <p:nvSpPr>
          <p:cNvPr id="11" name="Text 9"/>
          <p:cNvSpPr/>
          <p:nvPr/>
        </p:nvSpPr>
        <p:spPr>
          <a:xfrm>
            <a:off x="6551786" y="4873898"/>
            <a:ext cx="186660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tarefas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742238" y="4750073"/>
            <a:ext cx="1340644" cy="547688"/>
          </a:xfrm>
          <a:prstGeom prst="roundRect">
            <a:avLst>
              <a:gd name="adj" fmla="val 50000"/>
            </a:avLst>
          </a:prstGeom>
          <a:solidFill>
            <a:srgbClr val="E6F0E7"/>
          </a:solidFill>
          <a:ln/>
        </p:spPr>
      </p:sp>
      <p:sp>
        <p:nvSpPr>
          <p:cNvPr id="13" name="Text 11"/>
          <p:cNvSpPr/>
          <p:nvPr/>
        </p:nvSpPr>
        <p:spPr>
          <a:xfrm>
            <a:off x="8989888" y="4873898"/>
            <a:ext cx="92154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Traduzir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19275" y="5678760"/>
            <a:ext cx="161143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8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DE CLASSIFICAÇÃO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1819275" y="6097860"/>
            <a:ext cx="1166738" cy="447675"/>
          </a:xfrm>
          <a:prstGeom prst="roundRect">
            <a:avLst>
              <a:gd name="adj" fmla="val 19149"/>
            </a:avLst>
          </a:prstGeom>
          <a:solidFill>
            <a:srgbClr val="1F8A5B"/>
          </a:solidFill>
          <a:ln/>
        </p:spPr>
      </p:sp>
      <p:sp>
        <p:nvSpPr>
          <p:cNvPr id="16" name="Shape 14"/>
          <p:cNvSpPr/>
          <p:nvPr/>
        </p:nvSpPr>
        <p:spPr>
          <a:xfrm>
            <a:off x="2028825" y="6269310"/>
            <a:ext cx="104775" cy="10477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2228850" y="6202635"/>
            <a:ext cx="62381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3138413" y="6097860"/>
            <a:ext cx="1399431" cy="447675"/>
          </a:xfrm>
          <a:prstGeom prst="roundRect">
            <a:avLst>
              <a:gd name="adj" fmla="val 19149"/>
            </a:avLst>
          </a:prstGeom>
          <a:solidFill>
            <a:srgbClr val="D8A23C"/>
          </a:solidFill>
          <a:ln/>
        </p:spPr>
      </p:sp>
      <p:sp>
        <p:nvSpPr>
          <p:cNvPr id="19" name="Shape 17"/>
          <p:cNvSpPr/>
          <p:nvPr/>
        </p:nvSpPr>
        <p:spPr>
          <a:xfrm>
            <a:off x="3347963" y="6269310"/>
            <a:ext cx="104775" cy="10477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547988" y="6202635"/>
            <a:ext cx="85650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Amarela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4690244" y="6097860"/>
            <a:ext cx="1504429" cy="447675"/>
          </a:xfrm>
          <a:prstGeom prst="roundRect">
            <a:avLst>
              <a:gd name="adj" fmla="val 19149"/>
            </a:avLst>
          </a:prstGeom>
          <a:solidFill>
            <a:srgbClr val="BF5340"/>
          </a:solidFill>
          <a:ln/>
        </p:spPr>
      </p:sp>
      <p:sp>
        <p:nvSpPr>
          <p:cNvPr id="22" name="Shape 20"/>
          <p:cNvSpPr/>
          <p:nvPr/>
        </p:nvSpPr>
        <p:spPr>
          <a:xfrm>
            <a:off x="4899794" y="6269310"/>
            <a:ext cx="104775" cy="10477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099819" y="6202635"/>
            <a:ext cx="961504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Vermelha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238250" y="9063038"/>
            <a:ext cx="1581150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25" name="Text 23"/>
          <p:cNvSpPr/>
          <p:nvPr/>
        </p:nvSpPr>
        <p:spPr>
          <a:xfrm>
            <a:off x="1238250" y="9244013"/>
            <a:ext cx="298854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GREENIA · DESIGN SYSTEM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16395874" y="9244013"/>
            <a:ext cx="7300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12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52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38250" y="1219200"/>
            <a:ext cx="17392650" cy="632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spc="-99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Campos de formulário.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38250" y="2156445"/>
            <a:ext cx="7772400" cy="6563692"/>
          </a:xfrm>
          <a:prstGeom prst="roundRect">
            <a:avLst>
              <a:gd name="adj" fmla="val 203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04975" y="4342879"/>
            <a:ext cx="75228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14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 DA TAREFA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704975" y="4642917"/>
            <a:ext cx="6838950" cy="652463"/>
          </a:xfrm>
          <a:prstGeom prst="roundRect">
            <a:avLst>
              <a:gd name="adj" fmla="val 17518"/>
            </a:avLst>
          </a:prstGeom>
          <a:ln w="14288">
            <a:solidFill>
              <a:srgbClr val="D9D2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09762" y="4819129"/>
            <a:ext cx="6634544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da ata de reunião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04975" y="5581129"/>
            <a:ext cx="75228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14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1704975" y="5881167"/>
            <a:ext cx="6838950" cy="652463"/>
          </a:xfrm>
          <a:prstGeom prst="roundRect">
            <a:avLst>
              <a:gd name="adj" fmla="val 17518"/>
            </a:avLst>
          </a:prstGeom>
          <a:ln w="14288">
            <a:solidFill>
              <a:srgbClr val="1F8A5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9762" y="6150248"/>
            <a:ext cx="114300" cy="114300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11" name="Text 9"/>
          <p:cNvSpPr/>
          <p:nvPr/>
        </p:nvSpPr>
        <p:spPr>
          <a:xfrm>
            <a:off x="2128838" y="6057379"/>
            <a:ext cx="1738833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 · uso livre</a:t>
            </a:r>
            <a:endParaRPr lang="en-US" sz="1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9588" y="6102623"/>
            <a:ext cx="209550" cy="20955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277350" y="2156445"/>
            <a:ext cx="7772400" cy="6563692"/>
          </a:xfrm>
          <a:prstGeom prst="roundRect">
            <a:avLst>
              <a:gd name="adj" fmla="val 203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744075" y="4533379"/>
            <a:ext cx="752284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14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 DE PERGUNTA</a:t>
            </a:r>
            <a:endParaRPr lang="en-US" sz="1425" dirty="0"/>
          </a:p>
        </p:txBody>
      </p:sp>
      <p:sp>
        <p:nvSpPr>
          <p:cNvPr id="15" name="Shape 12"/>
          <p:cNvSpPr/>
          <p:nvPr/>
        </p:nvSpPr>
        <p:spPr>
          <a:xfrm>
            <a:off x="9744075" y="4909617"/>
            <a:ext cx="6838950" cy="1433513"/>
          </a:xfrm>
          <a:prstGeom prst="roundRect">
            <a:avLst>
              <a:gd name="adj" fmla="val 10631"/>
            </a:avLst>
          </a:prstGeom>
          <a:ln w="14288">
            <a:solidFill>
              <a:srgbClr val="D9D2C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986963" y="5133454"/>
            <a:ext cx="698849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Pergunte alguma coisa…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986963" y="5819254"/>
            <a:ext cx="104775" cy="104775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18" name="Text 15"/>
          <p:cNvSpPr/>
          <p:nvPr/>
        </p:nvSpPr>
        <p:spPr>
          <a:xfrm>
            <a:off x="10177463" y="5769248"/>
            <a:ext cx="10822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 verde</a:t>
            </a:r>
            <a:endParaRPr lang="en-US" sz="1425" dirty="0"/>
          </a:p>
        </p:txBody>
      </p:sp>
      <p:sp>
        <p:nvSpPr>
          <p:cNvPr id="19" name="Shape 16"/>
          <p:cNvSpPr/>
          <p:nvPr/>
        </p:nvSpPr>
        <p:spPr>
          <a:xfrm>
            <a:off x="15844838" y="5623992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1F8A5B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78187" y="5757342"/>
            <a:ext cx="228600" cy="2286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1238250" y="9063038"/>
            <a:ext cx="1581150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22" name="Text 18"/>
          <p:cNvSpPr/>
          <p:nvPr/>
        </p:nvSpPr>
        <p:spPr>
          <a:xfrm>
            <a:off x="1238250" y="9244013"/>
            <a:ext cx="298854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GREENIA · DESIGN SYSTEM</a:t>
            </a:r>
            <a:endParaRPr lang="en-US" sz="1275" dirty="0"/>
          </a:p>
        </p:txBody>
      </p:sp>
      <p:sp>
        <p:nvSpPr>
          <p:cNvPr id="23" name="Text 19"/>
          <p:cNvSpPr/>
          <p:nvPr/>
        </p:nvSpPr>
        <p:spPr>
          <a:xfrm>
            <a:off x="16407854" y="9244013"/>
            <a:ext cx="71809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12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52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38250" y="1219200"/>
            <a:ext cx="17392650" cy="632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spc="-99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Cards &amp; avisos.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38250" y="2156445"/>
            <a:ext cx="5092675" cy="6563692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28775" y="2546970"/>
            <a:ext cx="495300" cy="495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28775" y="3251820"/>
            <a:ext cx="474278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 rápida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28775" y="3713783"/>
            <a:ext cx="4440974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Comece uma tarefa do dia a dia com o login corporativo, sem licença.</a:t>
            </a:r>
            <a:endParaRPr lang="en-US" sz="1725" dirty="0"/>
          </a:p>
        </p:txBody>
      </p:sp>
      <p:sp>
        <p:nvSpPr>
          <p:cNvPr id="8" name="Shape 5"/>
          <p:cNvSpPr/>
          <p:nvPr/>
        </p:nvSpPr>
        <p:spPr>
          <a:xfrm>
            <a:off x="6597625" y="2156445"/>
            <a:ext cx="5092675" cy="6563692"/>
          </a:xfrm>
          <a:prstGeom prst="roundRect">
            <a:avLst>
              <a:gd name="adj" fmla="val 2618"/>
            </a:avLst>
          </a:prstGeom>
          <a:solidFill>
            <a:srgbClr val="F1EAD9"/>
          </a:solidFill>
          <a:ln/>
        </p:spPr>
      </p:sp>
      <p:sp>
        <p:nvSpPr>
          <p:cNvPr id="9" name="Text 6"/>
          <p:cNvSpPr/>
          <p:nvPr/>
        </p:nvSpPr>
        <p:spPr>
          <a:xfrm>
            <a:off x="6978625" y="2537445"/>
            <a:ext cx="476374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42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LEMBRETE DA POLÍTICA</a:t>
            </a:r>
            <a:endParaRPr lang="en-US" sz="1425" dirty="0"/>
          </a:p>
        </p:txBody>
      </p:sp>
      <p:sp>
        <p:nvSpPr>
          <p:cNvPr id="10" name="Text 7"/>
          <p:cNvSpPr/>
          <p:nvPr/>
        </p:nvSpPr>
        <p:spPr>
          <a:xfrm>
            <a:off x="6978625" y="2894633"/>
            <a:ext cx="4460595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 sensível não entra aqui. Tarefas amarelas e vermelhas seguem o caminho com a proteção certa.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1957000" y="2156445"/>
            <a:ext cx="5092750" cy="6563692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66525" y="2165970"/>
            <a:ext cx="5073700" cy="795338"/>
          </a:xfrm>
          <a:prstGeom prst="rect">
            <a:avLst/>
          </a:prstGeom>
          <a:solidFill>
            <a:srgbClr val="0F3A2A"/>
          </a:solidFill>
          <a:ln/>
        </p:spPr>
      </p:sp>
      <p:sp>
        <p:nvSpPr>
          <p:cNvPr id="13" name="Shape 10"/>
          <p:cNvSpPr/>
          <p:nvPr/>
        </p:nvSpPr>
        <p:spPr>
          <a:xfrm>
            <a:off x="12271325" y="2506489"/>
            <a:ext cx="114300" cy="114300"/>
          </a:xfrm>
          <a:prstGeom prst="ellipse">
            <a:avLst/>
          </a:prstGeom>
          <a:solidFill>
            <a:srgbClr val="B9E85A"/>
          </a:solidFill>
          <a:ln/>
        </p:spPr>
      </p:sp>
      <p:sp>
        <p:nvSpPr>
          <p:cNvPr id="14" name="Text 11"/>
          <p:cNvSpPr/>
          <p:nvPr/>
        </p:nvSpPr>
        <p:spPr>
          <a:xfrm>
            <a:off x="12518975" y="2432670"/>
            <a:ext cx="195708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Verde ativo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271325" y="3266108"/>
            <a:ext cx="4598023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livre, dentro do teto de gasto do mês. Centavos por uso.</a:t>
            </a:r>
            <a:endParaRPr lang="en-US" sz="1725" dirty="0"/>
          </a:p>
        </p:txBody>
      </p:sp>
      <p:sp>
        <p:nvSpPr>
          <p:cNvPr id="16" name="Shape 13"/>
          <p:cNvSpPr/>
          <p:nvPr/>
        </p:nvSpPr>
        <p:spPr>
          <a:xfrm>
            <a:off x="1238250" y="9063038"/>
            <a:ext cx="1581150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17" name="Text 14"/>
          <p:cNvSpPr/>
          <p:nvPr/>
        </p:nvSpPr>
        <p:spPr>
          <a:xfrm>
            <a:off x="1238250" y="9244013"/>
            <a:ext cx="298854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GREENIA · DESIGN SYSTEM</a:t>
            </a:r>
            <a:endParaRPr lang="en-US" sz="1275" dirty="0"/>
          </a:p>
        </p:txBody>
      </p:sp>
      <p:sp>
        <p:nvSpPr>
          <p:cNvPr id="18" name="Text 15"/>
          <p:cNvSpPr/>
          <p:nvPr/>
        </p:nvSpPr>
        <p:spPr>
          <a:xfrm>
            <a:off x="16395874" y="9244013"/>
            <a:ext cx="7300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12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EA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52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38250" y="1219200"/>
            <a:ext cx="17392650" cy="632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spc="-99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Mensagens.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38250" y="2156445"/>
            <a:ext cx="15811500" cy="6563692"/>
          </a:xfrm>
          <a:prstGeom prst="roundRect">
            <a:avLst>
              <a:gd name="adj" fmla="val 2032"/>
            </a:avLst>
          </a:prstGeom>
          <a:solidFill>
            <a:srgbClr val="FFFFFF"/>
          </a:solidFill>
          <a:ln w="9525">
            <a:solidFill>
              <a:srgbClr val="E9E0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90746" y="4333354"/>
            <a:ext cx="5977979" cy="742950"/>
          </a:xfrm>
          <a:prstGeom prst="roundRect">
            <a:avLst>
              <a:gd name="adj" fmla="val 23077"/>
            </a:avLst>
          </a:prstGeom>
          <a:solidFill>
            <a:srgbClr val="E6F0E7"/>
          </a:solidFill>
          <a:ln/>
        </p:spPr>
      </p:sp>
      <p:sp>
        <p:nvSpPr>
          <p:cNvPr id="6" name="Text 4"/>
          <p:cNvSpPr/>
          <p:nvPr/>
        </p:nvSpPr>
        <p:spPr>
          <a:xfrm>
            <a:off x="10776496" y="4542904"/>
            <a:ext cx="5585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Resuma este texto em três pontos para a equipe.</a:t>
            </a:r>
            <a:endParaRPr lang="en-US" sz="1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19275" y="5362054"/>
            <a:ext cx="352425" cy="4381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343150" y="5362054"/>
            <a:ext cx="9144744" cy="1181100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38425" y="5581129"/>
            <a:ext cx="882853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Claro. Aqui vão os três pontos principais, em linguagem simples — prontos para colar no e-mail.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1238250" y="9063038"/>
            <a:ext cx="15811500" cy="9525"/>
          </a:xfrm>
          <a:prstGeom prst="rect">
            <a:avLst/>
          </a:prstGeom>
          <a:solidFill>
            <a:srgbClr val="CFC6B3"/>
          </a:solidFill>
          <a:ln/>
        </p:spPr>
      </p:sp>
      <p:sp>
        <p:nvSpPr>
          <p:cNvPr id="11" name="Text 8"/>
          <p:cNvSpPr/>
          <p:nvPr/>
        </p:nvSpPr>
        <p:spPr>
          <a:xfrm>
            <a:off x="1238250" y="9244013"/>
            <a:ext cx="298854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GREENIA · DESIGN SYSTEM</a:t>
            </a:r>
            <a:endParaRPr lang="en-US" sz="1275" dirty="0"/>
          </a:p>
        </p:txBody>
      </p:sp>
      <p:sp>
        <p:nvSpPr>
          <p:cNvPr id="12" name="Text 9"/>
          <p:cNvSpPr/>
          <p:nvPr/>
        </p:nvSpPr>
        <p:spPr>
          <a:xfrm>
            <a:off x="16395874" y="9244013"/>
            <a:ext cx="7300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2026-06-22T12:18:37Z</dcterms:created>
  <dcterms:modified xsi:type="dcterms:W3CDTF">2026-06-22T12:18:37Z</dcterms:modified>
</cp:coreProperties>
</file>