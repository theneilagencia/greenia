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GreenIA: a porta de entrada para a IA no Grupo. Gratuita, simples,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é a GreenIA, em linguagem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traços que guiam toda 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Anatomia: o símbolo (raio que floresce) e o wordmark.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Área de proteção e tamanho mínimo.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nunca fazer com 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Tratamentos de cor aprovados da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Paleta de cores e tokens.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sistema funcional de classificação: Verde, Amarela, Vermelha.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Newsreader para display, Hanken Grotesk para texto 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Estilo gráfico: traço fino, cantos suaves, o motivo do raio.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Componentes do design system da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Aplicação: a interface de chat da GreenIA.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 GreenIA escreve: claro, humano, sem jargão.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A política cresce junto com o 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82500" y="4762500"/>
            <a:ext cx="7810500" cy="781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1047750"/>
            <a:ext cx="396958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8" kern="0" dirty="0">
                <a:solidFill>
                  <a:srgbClr val="D6F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BOOK · DESIGN SYSTEM</a:t>
            </a:r>
            <a:endParaRPr lang="en-US" sz="1425" dirty="0"/>
          </a:p>
        </p:txBody>
      </p:sp>
      <p:sp>
        <p:nvSpPr>
          <p:cNvPr id="4" name="Text 1"/>
          <p:cNvSpPr/>
          <p:nvPr/>
        </p:nvSpPr>
        <p:spPr>
          <a:xfrm>
            <a:off x="15825713" y="1047750"/>
            <a:ext cx="134644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8" kern="0" dirty="0">
                <a:solidFill>
                  <a:srgbClr val="D6F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2026</a:t>
            </a:r>
            <a:endParaRPr lang="en-US" sz="1425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8250" y="3512344"/>
            <a:ext cx="1181100" cy="1181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05100" y="3607594"/>
            <a:ext cx="4118312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00" spc="-156" kern="0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pPr algn="l" indent="0" marL="0">
              <a:buNone/>
            </a:pPr>
            <a:r>
              <a:rPr lang="en-US" sz="7800" spc="-156" kern="0" dirty="0">
                <a:solidFill>
                  <a:srgbClr val="B9E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7800" dirty="0"/>
          </a:p>
        </p:txBody>
      </p:sp>
      <p:sp>
        <p:nvSpPr>
          <p:cNvPr id="7" name="Text 3"/>
          <p:cNvSpPr/>
          <p:nvPr/>
        </p:nvSpPr>
        <p:spPr>
          <a:xfrm>
            <a:off x="1238250" y="5112544"/>
            <a:ext cx="11576685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750" spc="-75" kern="0" dirty="0">
                <a:solidFill>
                  <a:srgbClr val="E9E0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para todos, com segurança. A porta de entrada para a inteligência artificial no Grupo.</a:t>
            </a:r>
            <a:endParaRPr lang="en-US" sz="3750" dirty="0"/>
          </a:p>
        </p:txBody>
      </p:sp>
      <p:sp>
        <p:nvSpPr>
          <p:cNvPr id="8" name="Text 4"/>
          <p:cNvSpPr/>
          <p:nvPr/>
        </p:nvSpPr>
        <p:spPr>
          <a:xfrm>
            <a:off x="1238250" y="9001125"/>
            <a:ext cx="173926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42" kern="0" dirty="0">
                <a:solidFill>
                  <a:srgbClr val="D6F0A0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Serviços Compartilhados · Material Confidencial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A GREENIA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3748683"/>
            <a:ext cx="11871008" cy="2689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4500" spc="-90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GreenIA é a </a:t>
            </a:r>
            <a:pPr algn="l" indent="0" marL="0">
              <a:lnSpc>
                <a:spcPct val="116000"/>
              </a:lnSpc>
              <a:buNone/>
            </a:pPr>
            <a:r>
              <a:rPr lang="en-US" sz="4500" spc="-90" kern="0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do dia a dia </a:t>
            </a:r>
            <a:pPr algn="l" indent="0" marL="0">
              <a:lnSpc>
                <a:spcPct val="116000"/>
              </a:lnSpc>
              <a:buNone/>
            </a:pPr>
            <a:r>
              <a:rPr lang="en-US" sz="4500" spc="-90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Grupo: gratuita, simples e segura. Qualquer pessoa entra com o login corporativo e usa — sem licença, sem barreira, sem medo de errar.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3620750" y="3683794"/>
            <a:ext cx="14288" cy="2781300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5" name="Text 3"/>
          <p:cNvSpPr/>
          <p:nvPr/>
        </p:nvSpPr>
        <p:spPr>
          <a:xfrm>
            <a:off x="14016038" y="3683794"/>
            <a:ext cx="3124724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 no modelo mais leve, no ambiente do Grupo, para tarefas do dia a dia — resumir textos, rascunhar e-mails, organizar anotações.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016038" y="5522119"/>
            <a:ext cx="3124724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só uma ferramenta. É o convite para usar IA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jeito certo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9244013"/>
            <a:ext cx="2636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BRAND BOOK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15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PERSONALIDADE DA MARCA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spc="-102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traços que guiam tudo.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2163068"/>
            <a:ext cx="7772400" cy="3154710"/>
          </a:xfrm>
          <a:prstGeom prst="roundRect">
            <a:avLst>
              <a:gd name="adj" fmla="val 3019"/>
            </a:avLst>
          </a:prstGeom>
          <a:solidFill>
            <a:srgbClr val="E6F0E7"/>
          </a:solidFill>
          <a:ln/>
        </p:spPr>
      </p:sp>
      <p:sp>
        <p:nvSpPr>
          <p:cNvPr id="5" name="Text 3"/>
          <p:cNvSpPr/>
          <p:nvPr/>
        </p:nvSpPr>
        <p:spPr>
          <a:xfrm>
            <a:off x="1638300" y="2563118"/>
            <a:ext cx="76695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Acessível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638300" y="4254847"/>
            <a:ext cx="718146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todos, sem licença e sem barreira técnica. Convida em vez de intimidar.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77350" y="2163068"/>
            <a:ext cx="7772400" cy="3154710"/>
          </a:xfrm>
          <a:prstGeom prst="roundRect">
            <a:avLst>
              <a:gd name="adj" fmla="val 3019"/>
            </a:avLst>
          </a:prstGeom>
          <a:solidFill>
            <a:srgbClr val="F1EAD9"/>
          </a:solidFill>
          <a:ln/>
        </p:spPr>
      </p:sp>
      <p:sp>
        <p:nvSpPr>
          <p:cNvPr id="8" name="Text 6"/>
          <p:cNvSpPr/>
          <p:nvPr/>
        </p:nvSpPr>
        <p:spPr>
          <a:xfrm>
            <a:off x="9677400" y="2563118"/>
            <a:ext cx="76695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Humana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677400" y="4254847"/>
            <a:ext cx="718146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 como gente: calma, clara e sem jargão. Trata o erro como parte de aprender.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8250" y="5584478"/>
            <a:ext cx="7772400" cy="3154710"/>
          </a:xfrm>
          <a:prstGeom prst="roundRect">
            <a:avLst>
              <a:gd name="adj" fmla="val 3019"/>
            </a:avLst>
          </a:prstGeom>
          <a:solidFill>
            <a:srgbClr val="F1EAD9"/>
          </a:solidFill>
          <a:ln/>
        </p:spPr>
      </p:sp>
      <p:sp>
        <p:nvSpPr>
          <p:cNvPr id="11" name="Text 9"/>
          <p:cNvSpPr/>
          <p:nvPr/>
        </p:nvSpPr>
        <p:spPr>
          <a:xfrm>
            <a:off x="1638300" y="5984528"/>
            <a:ext cx="76695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Segura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638300" y="7676257"/>
            <a:ext cx="718146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Liberdade dentro de trilhos. A cor do dado guia o que pode e o que não pode.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77350" y="5584478"/>
            <a:ext cx="7772400" cy="3154710"/>
          </a:xfrm>
          <a:prstGeom prst="roundRect">
            <a:avLst>
              <a:gd name="adj" fmla="val 3019"/>
            </a:avLst>
          </a:prstGeom>
          <a:solidFill>
            <a:srgbClr val="E6F0E7"/>
          </a:solidFill>
          <a:ln/>
        </p:spPr>
      </p:sp>
      <p:sp>
        <p:nvSpPr>
          <p:cNvPr id="14" name="Text 12"/>
          <p:cNvSpPr/>
          <p:nvPr/>
        </p:nvSpPr>
        <p:spPr>
          <a:xfrm>
            <a:off x="9677400" y="5984528"/>
            <a:ext cx="766953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Clara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677400" y="7676257"/>
            <a:ext cx="718146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Mostra, não enrola. Cada tela diz, em poucas palavras, o que fazer ali.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9244013"/>
            <a:ext cx="2636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BRAND BOOK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15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LOGOMARCA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spc="-102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raio que floresce e um nome claro.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2067818"/>
            <a:ext cx="4572000" cy="6766620"/>
          </a:xfrm>
          <a:prstGeom prst="roundRect">
            <a:avLst>
              <a:gd name="adj" fmla="val 2500"/>
            </a:avLst>
          </a:prstGeom>
          <a:solidFill>
            <a:srgbClr val="F1EA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3125" y="4070003"/>
            <a:ext cx="2762250" cy="27622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2250" y="4324796"/>
            <a:ext cx="819150" cy="819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00950" y="4353371"/>
            <a:ext cx="316788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spc="-120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pPr algn="l" indent="0" marL="0">
              <a:buNone/>
            </a:pPr>
            <a:r>
              <a:rPr lang="en-US" sz="6000" spc="-120" kern="0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6000" dirty="0"/>
          </a:p>
        </p:txBody>
      </p:sp>
      <p:sp>
        <p:nvSpPr>
          <p:cNvPr id="8" name="Shape 4"/>
          <p:cNvSpPr/>
          <p:nvPr/>
        </p:nvSpPr>
        <p:spPr>
          <a:xfrm>
            <a:off x="6572250" y="5524946"/>
            <a:ext cx="5010150" cy="14288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9" name="Text 5"/>
          <p:cNvSpPr/>
          <p:nvPr/>
        </p:nvSpPr>
        <p:spPr>
          <a:xfrm>
            <a:off x="6572250" y="5710684"/>
            <a:ext cx="55111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símbolo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572250" y="6025009"/>
            <a:ext cx="516045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raio que floresce: a ideia que surge e cresce. Pontas suaves e orgânicas — caloroso, nunca agressivo.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2039600" y="5524946"/>
            <a:ext cx="5010150" cy="14288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2" name="Text 8"/>
          <p:cNvSpPr/>
          <p:nvPr/>
        </p:nvSpPr>
        <p:spPr>
          <a:xfrm>
            <a:off x="12039600" y="5710684"/>
            <a:ext cx="55111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wordmark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2039600" y="6025009"/>
            <a:ext cx="5160455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Composto em Newsreader, peso 500. “Green” em tinta, “IA” em verde — a tecnologia em destaque, com leveza.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5" name="Text 11"/>
          <p:cNvSpPr/>
          <p:nvPr/>
        </p:nvSpPr>
        <p:spPr>
          <a:xfrm>
            <a:off x="1238250" y="9244013"/>
            <a:ext cx="2636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BRAND BOOK</a:t>
            </a:r>
            <a:endParaRPr lang="en-US" sz="1275" dirty="0"/>
          </a:p>
        </p:txBody>
      </p:sp>
      <p:sp>
        <p:nvSpPr>
          <p:cNvPr id="16" name="Text 12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15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E ÁREA DE PROTEÇÃO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spc="-102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Espaço para respirar.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2124968"/>
            <a:ext cx="9212610" cy="6652320"/>
          </a:xfrm>
          <a:prstGeom prst="roundRect">
            <a:avLst>
              <a:gd name="adj" fmla="val 1718"/>
            </a:avLst>
          </a:prstGeom>
          <a:solidFill>
            <a:srgbClr val="F1EAD9"/>
          </a:solidFill>
          <a:ln/>
        </p:spPr>
      </p:sp>
      <p:sp>
        <p:nvSpPr>
          <p:cNvPr id="5" name="Shape 3"/>
          <p:cNvSpPr/>
          <p:nvPr/>
        </p:nvSpPr>
        <p:spPr>
          <a:xfrm>
            <a:off x="3912691" y="4551015"/>
            <a:ext cx="3863727" cy="1800225"/>
          </a:xfrm>
          <a:prstGeom prst="roundRect">
            <a:avLst>
              <a:gd name="adj" fmla="val 4233"/>
            </a:avLst>
          </a:prstGeom>
          <a:solidFill>
            <a:srgbClr val="FAF7EF"/>
          </a:solidFill>
          <a:ln w="14288">
            <a:solidFill>
              <a:srgbClr val="3FAE74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8479" y="5136803"/>
            <a:ext cx="628650" cy="6286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98579" y="5193953"/>
            <a:ext cx="208125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spc="-81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pPr algn="l" indent="0" marL="0">
              <a:buNone/>
            </a:pPr>
            <a:r>
              <a:rPr lang="en-US" sz="4050" spc="-81" kern="0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4050" dirty="0"/>
          </a:p>
        </p:txBody>
      </p:sp>
      <p:sp>
        <p:nvSpPr>
          <p:cNvPr id="8" name="Shape 5"/>
          <p:cNvSpPr/>
          <p:nvPr/>
        </p:nvSpPr>
        <p:spPr>
          <a:xfrm>
            <a:off x="10908060" y="3653284"/>
            <a:ext cx="6141690" cy="14288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9" name="Text 6"/>
          <p:cNvSpPr/>
          <p:nvPr/>
        </p:nvSpPr>
        <p:spPr>
          <a:xfrm>
            <a:off x="10908060" y="3819971"/>
            <a:ext cx="675585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proteção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908060" y="4134296"/>
            <a:ext cx="632594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Reserve, em todos os lados, no mínimo a altura do símbolo (1×). Nenhum outro elemento entra nessa margem.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908060" y="4934396"/>
            <a:ext cx="6141690" cy="14288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2" name="Text 9"/>
          <p:cNvSpPr/>
          <p:nvPr/>
        </p:nvSpPr>
        <p:spPr>
          <a:xfrm>
            <a:off x="10908060" y="5101084"/>
            <a:ext cx="675585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Tamanho mínimo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908060" y="5415409"/>
            <a:ext cx="632594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Lockup horizontal: 28 px de altura em tela, 12 mm em impressão. Símbolo isolado: 20 px / 8 mm.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0908060" y="6215509"/>
            <a:ext cx="6141690" cy="14288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5" name="Text 12"/>
          <p:cNvSpPr/>
          <p:nvPr/>
        </p:nvSpPr>
        <p:spPr>
          <a:xfrm>
            <a:off x="10908060" y="6382196"/>
            <a:ext cx="675585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Lockups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908060" y="6696521"/>
            <a:ext cx="632594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(símbolo + nome) é o padrão. Símbolo isolado para avatar e favicon. Empilhado só em formatos quadrados.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8" name="Text 15"/>
          <p:cNvSpPr/>
          <p:nvPr/>
        </p:nvSpPr>
        <p:spPr>
          <a:xfrm>
            <a:off x="1238250" y="9244013"/>
            <a:ext cx="2636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BRAND BOOK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15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USOS INCORRETOS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spc="-102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nunca fazer.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2163068"/>
            <a:ext cx="3781425" cy="6170414"/>
          </a:xfrm>
          <a:prstGeom prst="roundRect">
            <a:avLst>
              <a:gd name="adj" fmla="val 2519"/>
            </a:avLst>
          </a:prstGeom>
          <a:solidFill>
            <a:srgbClr val="F1EA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7463" y="4676775"/>
            <a:ext cx="1143000" cy="1143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62475" y="2296418"/>
            <a:ext cx="323850" cy="323850"/>
          </a:xfrm>
          <a:prstGeom prst="ellipse">
            <a:avLst/>
          </a:prstGeom>
          <a:solidFill>
            <a:srgbClr val="BF5340"/>
          </a:solidFill>
          <a:ln/>
        </p:spPr>
      </p:sp>
      <p:sp>
        <p:nvSpPr>
          <p:cNvPr id="7" name="Text 4"/>
          <p:cNvSpPr/>
          <p:nvPr/>
        </p:nvSpPr>
        <p:spPr>
          <a:xfrm>
            <a:off x="4524375" y="2296418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238250" y="8485882"/>
            <a:ext cx="4159568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use cores fora da paleta.</a:t>
            </a:r>
            <a:endParaRPr lang="en-US" sz="1425" dirty="0"/>
          </a:p>
        </p:txBody>
      </p:sp>
      <p:sp>
        <p:nvSpPr>
          <p:cNvPr id="9" name="Shape 6"/>
          <p:cNvSpPr/>
          <p:nvPr/>
        </p:nvSpPr>
        <p:spPr>
          <a:xfrm>
            <a:off x="5248275" y="2163068"/>
            <a:ext cx="3781425" cy="6170414"/>
          </a:xfrm>
          <a:prstGeom prst="roundRect">
            <a:avLst>
              <a:gd name="adj" fmla="val 2519"/>
            </a:avLst>
          </a:prstGeom>
          <a:solidFill>
            <a:srgbClr val="3FAE7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7488" y="4676775"/>
            <a:ext cx="1143000" cy="1143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572500" y="2296418"/>
            <a:ext cx="323850" cy="323850"/>
          </a:xfrm>
          <a:prstGeom prst="ellipse">
            <a:avLst/>
          </a:prstGeom>
          <a:solidFill>
            <a:srgbClr val="BF5340"/>
          </a:solidFill>
          <a:ln/>
        </p:spPr>
      </p:sp>
      <p:sp>
        <p:nvSpPr>
          <p:cNvPr id="12" name="Text 8"/>
          <p:cNvSpPr/>
          <p:nvPr/>
        </p:nvSpPr>
        <p:spPr>
          <a:xfrm>
            <a:off x="8534400" y="2296418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5248275" y="8485882"/>
            <a:ext cx="4159568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use sobre fundo de baixo contraste.</a:t>
            </a:r>
            <a:endParaRPr lang="en-US" sz="1425" dirty="0"/>
          </a:p>
        </p:txBody>
      </p:sp>
      <p:sp>
        <p:nvSpPr>
          <p:cNvPr id="14" name="Shape 10"/>
          <p:cNvSpPr/>
          <p:nvPr/>
        </p:nvSpPr>
        <p:spPr>
          <a:xfrm>
            <a:off x="9258300" y="2163068"/>
            <a:ext cx="3781425" cy="6170414"/>
          </a:xfrm>
          <a:prstGeom prst="roundRect">
            <a:avLst>
              <a:gd name="adj" fmla="val 2519"/>
            </a:avLst>
          </a:prstGeom>
          <a:solidFill>
            <a:srgbClr val="F1EAD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6105" y="4475368"/>
            <a:ext cx="1545815" cy="154581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2582525" y="2296418"/>
            <a:ext cx="323850" cy="323850"/>
          </a:xfrm>
          <a:prstGeom prst="ellipse">
            <a:avLst/>
          </a:prstGeom>
          <a:solidFill>
            <a:srgbClr val="BF5340"/>
          </a:solidFill>
          <a:ln/>
        </p:spPr>
      </p:sp>
      <p:sp>
        <p:nvSpPr>
          <p:cNvPr id="17" name="Text 12"/>
          <p:cNvSpPr/>
          <p:nvPr/>
        </p:nvSpPr>
        <p:spPr>
          <a:xfrm>
            <a:off x="12544425" y="2296418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258300" y="8485882"/>
            <a:ext cx="4159568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gire nem incline o símbolo.</a:t>
            </a:r>
            <a:endParaRPr lang="en-US" sz="1425" dirty="0"/>
          </a:p>
        </p:txBody>
      </p:sp>
      <p:sp>
        <p:nvSpPr>
          <p:cNvPr id="19" name="Shape 14"/>
          <p:cNvSpPr/>
          <p:nvPr/>
        </p:nvSpPr>
        <p:spPr>
          <a:xfrm>
            <a:off x="13268325" y="2163068"/>
            <a:ext cx="3781425" cy="6170414"/>
          </a:xfrm>
          <a:prstGeom prst="roundRect">
            <a:avLst>
              <a:gd name="adj" fmla="val 2519"/>
            </a:avLst>
          </a:prstGeom>
          <a:solidFill>
            <a:srgbClr val="F1EAD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587538" y="4676775"/>
            <a:ext cx="1143000" cy="11430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6592550" y="2296418"/>
            <a:ext cx="323850" cy="323850"/>
          </a:xfrm>
          <a:prstGeom prst="ellipse">
            <a:avLst/>
          </a:prstGeom>
          <a:solidFill>
            <a:srgbClr val="BF5340"/>
          </a:solidFill>
          <a:ln/>
        </p:spPr>
      </p:sp>
      <p:sp>
        <p:nvSpPr>
          <p:cNvPr id="22" name="Text 16"/>
          <p:cNvSpPr/>
          <p:nvPr/>
        </p:nvSpPr>
        <p:spPr>
          <a:xfrm>
            <a:off x="16554450" y="2296418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13268325" y="8485882"/>
            <a:ext cx="4159568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aplique sombras ou efeitos.</a:t>
            </a:r>
            <a:endParaRPr lang="en-US" sz="1425" dirty="0"/>
          </a:p>
        </p:txBody>
      </p:sp>
      <p:sp>
        <p:nvSpPr>
          <p:cNvPr id="24" name="Shape 18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25" name="Text 19"/>
          <p:cNvSpPr/>
          <p:nvPr/>
        </p:nvSpPr>
        <p:spPr>
          <a:xfrm>
            <a:off x="1238250" y="9244013"/>
            <a:ext cx="2636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BRAND BOOK</a:t>
            </a:r>
            <a:endParaRPr lang="en-US" sz="1275" dirty="0"/>
          </a:p>
        </p:txBody>
      </p:sp>
      <p:sp>
        <p:nvSpPr>
          <p:cNvPr id="26" name="Text 20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15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VARIAÇÕES DE COR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spc="-102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tratamentos aprovados.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2163068"/>
            <a:ext cx="3781425" cy="6185595"/>
          </a:xfrm>
          <a:prstGeom prst="roundRect">
            <a:avLst>
              <a:gd name="adj" fmla="val 2519"/>
            </a:avLst>
          </a:prstGeom>
          <a:solidFill>
            <a:srgbClr val="FAF7EF"/>
          </a:solidFill>
          <a:ln w="9525">
            <a:solidFill>
              <a:srgbClr val="D9D2C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71763" y="4551015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51435" y="5636865"/>
            <a:ext cx="12312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51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pPr algn="l" indent="0" marL="0">
              <a:buNone/>
            </a:pPr>
            <a:r>
              <a:rPr lang="en-US" sz="2550" spc="-51" kern="0" dirty="0">
                <a:solidFill>
                  <a:srgbClr val="1F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1238250" y="8501063"/>
            <a:ext cx="41595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· sobre claro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5248275" y="2163068"/>
            <a:ext cx="3781425" cy="6185595"/>
          </a:xfrm>
          <a:prstGeom prst="roundRect">
            <a:avLst>
              <a:gd name="adj" fmla="val 2519"/>
            </a:avLst>
          </a:prstGeom>
          <a:solidFill>
            <a:srgbClr val="0F3A2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1788" y="4551015"/>
            <a:ext cx="91440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61460" y="5636865"/>
            <a:ext cx="12312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51" kern="0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pPr algn="l" indent="0" marL="0">
              <a:buNone/>
            </a:pPr>
            <a:r>
              <a:rPr lang="en-US" sz="2550" spc="-51" kern="0" dirty="0">
                <a:solidFill>
                  <a:srgbClr val="B9E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2550" dirty="0"/>
          </a:p>
        </p:txBody>
      </p:sp>
      <p:sp>
        <p:nvSpPr>
          <p:cNvPr id="11" name="Text 7"/>
          <p:cNvSpPr/>
          <p:nvPr/>
        </p:nvSpPr>
        <p:spPr>
          <a:xfrm>
            <a:off x="5248275" y="8501063"/>
            <a:ext cx="41595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Negativo · sobre verde profundo</a:t>
            </a:r>
            <a:endParaRPr lang="en-US" sz="1425" dirty="0"/>
          </a:p>
        </p:txBody>
      </p:sp>
      <p:sp>
        <p:nvSpPr>
          <p:cNvPr id="12" name="Shape 8"/>
          <p:cNvSpPr/>
          <p:nvPr/>
        </p:nvSpPr>
        <p:spPr>
          <a:xfrm>
            <a:off x="9258300" y="2163068"/>
            <a:ext cx="3781425" cy="6185595"/>
          </a:xfrm>
          <a:prstGeom prst="roundRect">
            <a:avLst>
              <a:gd name="adj" fmla="val 2519"/>
            </a:avLst>
          </a:prstGeom>
          <a:solidFill>
            <a:srgbClr val="1F8A5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91813" y="4551015"/>
            <a:ext cx="914400" cy="914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71485" y="5636865"/>
            <a:ext cx="123118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51" kern="0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GreenIA</a:t>
            </a:r>
            <a:endParaRPr lang="en-US" sz="2550" dirty="0"/>
          </a:p>
        </p:txBody>
      </p:sp>
      <p:sp>
        <p:nvSpPr>
          <p:cNvPr id="15" name="Text 10"/>
          <p:cNvSpPr/>
          <p:nvPr/>
        </p:nvSpPr>
        <p:spPr>
          <a:xfrm>
            <a:off x="9258300" y="8501063"/>
            <a:ext cx="41595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a cor de marca</a:t>
            </a:r>
            <a:endParaRPr lang="en-US" sz="1425" dirty="0"/>
          </a:p>
        </p:txBody>
      </p:sp>
      <p:sp>
        <p:nvSpPr>
          <p:cNvPr id="16" name="Shape 11"/>
          <p:cNvSpPr/>
          <p:nvPr/>
        </p:nvSpPr>
        <p:spPr>
          <a:xfrm>
            <a:off x="13268325" y="2163068"/>
            <a:ext cx="3781425" cy="6185595"/>
          </a:xfrm>
          <a:prstGeom prst="roundRect">
            <a:avLst>
              <a:gd name="adj" fmla="val 2519"/>
            </a:avLst>
          </a:prstGeom>
          <a:solidFill>
            <a:srgbClr val="FAF7EF"/>
          </a:solidFill>
          <a:ln w="9525">
            <a:solidFill>
              <a:srgbClr val="D9D2C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701838" y="4551015"/>
            <a:ext cx="914400" cy="914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581510" y="5636865"/>
            <a:ext cx="123118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-51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GreenIA</a:t>
            </a:r>
            <a:endParaRPr lang="en-US" sz="2550" dirty="0"/>
          </a:p>
        </p:txBody>
      </p:sp>
      <p:sp>
        <p:nvSpPr>
          <p:cNvPr id="19" name="Text 13"/>
          <p:cNvSpPr/>
          <p:nvPr/>
        </p:nvSpPr>
        <p:spPr>
          <a:xfrm>
            <a:off x="13268325" y="8501063"/>
            <a:ext cx="415956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Monocromático · 1 cor</a:t>
            </a:r>
            <a:endParaRPr lang="en-US" sz="1425" dirty="0"/>
          </a:p>
        </p:txBody>
      </p:sp>
      <p:sp>
        <p:nvSpPr>
          <p:cNvPr id="20" name="Shape 14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21" name="Text 15"/>
          <p:cNvSpPr/>
          <p:nvPr/>
        </p:nvSpPr>
        <p:spPr>
          <a:xfrm>
            <a:off x="1238250" y="9244013"/>
            <a:ext cx="2636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BRAND BOOK</a:t>
            </a:r>
            <a:endParaRPr lang="en-US" sz="1275" dirty="0"/>
          </a:p>
        </p:txBody>
      </p:sp>
      <p:sp>
        <p:nvSpPr>
          <p:cNvPr id="22" name="Text 16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15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PALETA DE CORES · TOKENS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spc="-102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Verdes confiantes, neutros calorosos.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4060478"/>
            <a:ext cx="3025080" cy="1428750"/>
          </a:xfrm>
          <a:prstGeom prst="roundRect">
            <a:avLst>
              <a:gd name="adj" fmla="val 5333"/>
            </a:avLst>
          </a:prstGeom>
          <a:solidFill>
            <a:srgbClr val="0F3A2A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4927253"/>
            <a:ext cx="295039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1409700" y="5132040"/>
            <a:ext cx="295039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--deep · #0F3A2A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4434780" y="4060478"/>
            <a:ext cx="3025155" cy="1428750"/>
          </a:xfrm>
          <a:prstGeom prst="roundRect">
            <a:avLst>
              <a:gd name="adj" fmla="val 5333"/>
            </a:avLst>
          </a:prstGeom>
          <a:solidFill>
            <a:srgbClr val="1F8A5B"/>
          </a:solidFill>
          <a:ln/>
        </p:spPr>
      </p:sp>
      <p:sp>
        <p:nvSpPr>
          <p:cNvPr id="8" name="Text 6"/>
          <p:cNvSpPr/>
          <p:nvPr/>
        </p:nvSpPr>
        <p:spPr>
          <a:xfrm>
            <a:off x="4606230" y="4927253"/>
            <a:ext cx="2950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4606230" y="5132040"/>
            <a:ext cx="295048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--forest · #1F8A5B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7631385" y="4060478"/>
            <a:ext cx="3025155" cy="1428750"/>
          </a:xfrm>
          <a:prstGeom prst="roundRect">
            <a:avLst>
              <a:gd name="adj" fmla="val 5333"/>
            </a:avLst>
          </a:prstGeom>
          <a:solidFill>
            <a:srgbClr val="3FAE74"/>
          </a:solidFill>
          <a:ln/>
        </p:spPr>
      </p:sp>
      <p:sp>
        <p:nvSpPr>
          <p:cNvPr id="11" name="Text 9"/>
          <p:cNvSpPr/>
          <p:nvPr/>
        </p:nvSpPr>
        <p:spPr>
          <a:xfrm>
            <a:off x="7802835" y="4927253"/>
            <a:ext cx="2950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802835" y="5132040"/>
            <a:ext cx="295048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--leaf · #3FAE74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10827990" y="4060478"/>
            <a:ext cx="3025155" cy="1428750"/>
          </a:xfrm>
          <a:prstGeom prst="roundRect">
            <a:avLst>
              <a:gd name="adj" fmla="val 5333"/>
            </a:avLst>
          </a:prstGeom>
          <a:solidFill>
            <a:srgbClr val="B9E85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99440" y="4927253"/>
            <a:ext cx="2950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0999440" y="5132040"/>
            <a:ext cx="295048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6241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--spark · #B9E85A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14024595" y="4060478"/>
            <a:ext cx="3025155" cy="1428750"/>
          </a:xfrm>
          <a:prstGeom prst="roundRect">
            <a:avLst>
              <a:gd name="adj" fmla="val 5333"/>
            </a:avLst>
          </a:prstGeom>
          <a:solidFill>
            <a:srgbClr val="16241D"/>
          </a:solidFill>
          <a:ln/>
        </p:spPr>
      </p:sp>
      <p:sp>
        <p:nvSpPr>
          <p:cNvPr id="17" name="Text 15"/>
          <p:cNvSpPr/>
          <p:nvPr/>
        </p:nvSpPr>
        <p:spPr>
          <a:xfrm>
            <a:off x="14196045" y="4927253"/>
            <a:ext cx="2950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4196045" y="5132040"/>
            <a:ext cx="295048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--ink · #16241D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1238250" y="5698778"/>
            <a:ext cx="3025080" cy="1143000"/>
          </a:xfrm>
          <a:prstGeom prst="roundRect">
            <a:avLst>
              <a:gd name="adj" fmla="val 6667"/>
            </a:avLst>
          </a:prstGeom>
          <a:solidFill>
            <a:srgbClr val="FAF7E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9225" y="6270278"/>
            <a:ext cx="292944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419225" y="6475065"/>
            <a:ext cx="292944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--paper · #FAF7EF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4434780" y="5698778"/>
            <a:ext cx="3025155" cy="1143000"/>
          </a:xfrm>
          <a:prstGeom prst="roundRect">
            <a:avLst>
              <a:gd name="adj" fmla="val 6667"/>
            </a:avLst>
          </a:prstGeom>
          <a:solidFill>
            <a:srgbClr val="F1EAD9"/>
          </a:solidFill>
          <a:ln/>
        </p:spPr>
      </p:sp>
      <p:sp>
        <p:nvSpPr>
          <p:cNvPr id="23" name="Text 21"/>
          <p:cNvSpPr/>
          <p:nvPr/>
        </p:nvSpPr>
        <p:spPr>
          <a:xfrm>
            <a:off x="4606230" y="6279803"/>
            <a:ext cx="2950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4606230" y="6484590"/>
            <a:ext cx="295048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--sand · #F1EAD9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7631385" y="5698778"/>
            <a:ext cx="3025155" cy="1143000"/>
          </a:xfrm>
          <a:prstGeom prst="roundRect">
            <a:avLst>
              <a:gd name="adj" fmla="val 6667"/>
            </a:avLst>
          </a:prstGeom>
          <a:solidFill>
            <a:srgbClr val="E6F0E7"/>
          </a:solidFill>
          <a:ln/>
        </p:spPr>
      </p:sp>
      <p:sp>
        <p:nvSpPr>
          <p:cNvPr id="26" name="Text 24"/>
          <p:cNvSpPr/>
          <p:nvPr/>
        </p:nvSpPr>
        <p:spPr>
          <a:xfrm>
            <a:off x="7802835" y="6279803"/>
            <a:ext cx="2950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7802835" y="6484590"/>
            <a:ext cx="295048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--mist · #E6F0E7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10827990" y="5698778"/>
            <a:ext cx="3025155" cy="1143000"/>
          </a:xfrm>
          <a:prstGeom prst="roundRect">
            <a:avLst>
              <a:gd name="adj" fmla="val 6667"/>
            </a:avLst>
          </a:prstGeom>
          <a:solidFill>
            <a:srgbClr val="E9E0CD"/>
          </a:solidFill>
          <a:ln/>
        </p:spPr>
      </p:sp>
      <p:sp>
        <p:nvSpPr>
          <p:cNvPr id="29" name="Text 27"/>
          <p:cNvSpPr/>
          <p:nvPr/>
        </p:nvSpPr>
        <p:spPr>
          <a:xfrm>
            <a:off x="10999440" y="6279803"/>
            <a:ext cx="2950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0999440" y="6484590"/>
            <a:ext cx="295048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--cream · #E9E0CD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14024595" y="5698778"/>
            <a:ext cx="3025155" cy="1143000"/>
          </a:xfrm>
          <a:prstGeom prst="roundRect">
            <a:avLst>
              <a:gd name="adj" fmla="val 6667"/>
            </a:avLst>
          </a:prstGeom>
          <a:solidFill>
            <a:srgbClr val="6E6C62"/>
          </a:solidFill>
          <a:ln/>
        </p:spPr>
      </p:sp>
      <p:sp>
        <p:nvSpPr>
          <p:cNvPr id="32" name="Text 30"/>
          <p:cNvSpPr/>
          <p:nvPr/>
        </p:nvSpPr>
        <p:spPr>
          <a:xfrm>
            <a:off x="14196045" y="6279803"/>
            <a:ext cx="295048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Muted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4196045" y="6484590"/>
            <a:ext cx="295048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--muted · #6E6C62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35" name="Text 33"/>
          <p:cNvSpPr/>
          <p:nvPr/>
        </p:nvSpPr>
        <p:spPr>
          <a:xfrm>
            <a:off x="1238250" y="9244013"/>
            <a:ext cx="2636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BRAND BOOK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15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CORES FUNCIONAIS · CLASSIFICAÇÃO DE DADOS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spc="-102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três cores guiam a proteção.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2163068"/>
            <a:ext cx="5092675" cy="6576120"/>
          </a:xfrm>
          <a:prstGeom prst="roundRect">
            <a:avLst>
              <a:gd name="adj" fmla="val 2244"/>
            </a:avLst>
          </a:prstGeom>
          <a:ln w="9525">
            <a:solidFill>
              <a:srgbClr val="D9D2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7775" y="2172593"/>
            <a:ext cx="5073625" cy="857250"/>
          </a:xfrm>
          <a:prstGeom prst="rect">
            <a:avLst/>
          </a:prstGeom>
          <a:solidFill>
            <a:srgbClr val="1F8A5B"/>
          </a:solidFill>
          <a:ln/>
        </p:spPr>
      </p:sp>
      <p:sp>
        <p:nvSpPr>
          <p:cNvPr id="6" name="Text 4"/>
          <p:cNvSpPr/>
          <p:nvPr/>
        </p:nvSpPr>
        <p:spPr>
          <a:xfrm>
            <a:off x="1533525" y="2420243"/>
            <a:ext cx="95986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Verde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47775" y="3029843"/>
            <a:ext cx="5073625" cy="5699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533525" y="3315593"/>
            <a:ext cx="495233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livre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33525" y="3687068"/>
            <a:ext cx="463718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público ou interno sem sigilo. Liberado na hora, sem pedir nada. É a maioria do dia a dia — e o ambiente da GreenIA.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97625" y="2163068"/>
            <a:ext cx="5092675" cy="6576120"/>
          </a:xfrm>
          <a:prstGeom prst="roundRect">
            <a:avLst>
              <a:gd name="adj" fmla="val 2244"/>
            </a:avLst>
          </a:prstGeom>
          <a:ln w="9525">
            <a:solidFill>
              <a:srgbClr val="D9D2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7150" y="2172593"/>
            <a:ext cx="5073625" cy="857250"/>
          </a:xfrm>
          <a:prstGeom prst="rect">
            <a:avLst/>
          </a:prstGeom>
          <a:solidFill>
            <a:srgbClr val="D8A23C"/>
          </a:solidFill>
          <a:ln/>
        </p:spPr>
      </p:sp>
      <p:sp>
        <p:nvSpPr>
          <p:cNvPr id="12" name="Text 10"/>
          <p:cNvSpPr/>
          <p:nvPr/>
        </p:nvSpPr>
        <p:spPr>
          <a:xfrm>
            <a:off x="6892900" y="2420243"/>
            <a:ext cx="140906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Amarela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6607150" y="3029843"/>
            <a:ext cx="5073625" cy="5699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92900" y="3315593"/>
            <a:ext cx="495233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média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892900" y="3687068"/>
            <a:ext cx="4637189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interno compartilhado. A conversa pode ser guardada por um prazo e depois apagada. A DIT liga, e a tarefa é registrada.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957000" y="2163068"/>
            <a:ext cx="5092750" cy="6576120"/>
          </a:xfrm>
          <a:prstGeom prst="roundRect">
            <a:avLst>
              <a:gd name="adj" fmla="val 2244"/>
            </a:avLst>
          </a:prstGeom>
          <a:ln w="9525">
            <a:solidFill>
              <a:srgbClr val="D9D2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66525" y="2172593"/>
            <a:ext cx="5073700" cy="857250"/>
          </a:xfrm>
          <a:prstGeom prst="rect">
            <a:avLst/>
          </a:prstGeom>
          <a:solidFill>
            <a:srgbClr val="BF5340"/>
          </a:solidFill>
          <a:ln/>
        </p:spPr>
      </p:sp>
      <p:sp>
        <p:nvSpPr>
          <p:cNvPr id="18" name="Text 16"/>
          <p:cNvSpPr/>
          <p:nvPr/>
        </p:nvSpPr>
        <p:spPr>
          <a:xfrm>
            <a:off x="12252275" y="2420243"/>
            <a:ext cx="159814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Vermelha</a:t>
            </a:r>
            <a:endParaRPr lang="en-US" sz="2850" dirty="0"/>
          </a:p>
        </p:txBody>
      </p:sp>
      <p:sp>
        <p:nvSpPr>
          <p:cNvPr id="19" name="Shape 17"/>
          <p:cNvSpPr/>
          <p:nvPr/>
        </p:nvSpPr>
        <p:spPr>
          <a:xfrm>
            <a:off x="11966525" y="3029843"/>
            <a:ext cx="5073700" cy="56998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252275" y="3315593"/>
            <a:ext cx="495242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máxima · ZDR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252275" y="3687068"/>
            <a:ext cx="463726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regulado, financeiro ou pessoal sensível. A IA não guarda nada. Exige responsável e aval da Segurança antes de qualquer dado real.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23" name="Text 21"/>
          <p:cNvSpPr/>
          <p:nvPr/>
        </p:nvSpPr>
        <p:spPr>
          <a:xfrm>
            <a:off x="1238250" y="9244013"/>
            <a:ext cx="2636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BRAND BOOK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15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TIPOGRAFIA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spc="-102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Editorial no título, claro no corpo.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0041434" y="2124968"/>
            <a:ext cx="9525" cy="6652320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124968"/>
            <a:ext cx="16610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E6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Newsreader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752680" y="2215455"/>
            <a:ext cx="1888979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· 300–500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38250" y="2696468"/>
            <a:ext cx="9054852" cy="1046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100" spc="-162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8100" dirty="0"/>
          </a:p>
        </p:txBody>
      </p:sp>
      <p:sp>
        <p:nvSpPr>
          <p:cNvPr id="8" name="Text 6"/>
          <p:cNvSpPr/>
          <p:nvPr/>
        </p:nvSpPr>
        <p:spPr>
          <a:xfrm>
            <a:off x="1238250" y="3952205"/>
            <a:ext cx="9054852" cy="4876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000" spc="-60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para todos, com segurança.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38250" y="4649391"/>
            <a:ext cx="905485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6E6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peso 300–400 e tamanho grande. Nunca negrito.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717709" y="2124968"/>
            <a:ext cx="227124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Hanken Grotesk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5080456" y="2215455"/>
            <a:ext cx="2166223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· UI · 400–700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717709" y="2701230"/>
            <a:ext cx="6965246" cy="1046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8100" b="1" spc="-162" kern="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8100" dirty="0"/>
          </a:p>
        </p:txBody>
      </p:sp>
      <p:sp>
        <p:nvSpPr>
          <p:cNvPr id="13" name="Text 11"/>
          <p:cNvSpPr/>
          <p:nvPr/>
        </p:nvSpPr>
        <p:spPr>
          <a:xfrm>
            <a:off x="10717709" y="3956968"/>
            <a:ext cx="696524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seção · 600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717709" y="4380830"/>
            <a:ext cx="6522003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 de texto em peso 400. Ênfase pela cor e pelo peso 500 — nunca por 700 no meio do texto.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0717709" y="5152355"/>
            <a:ext cx="69652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EYEBROW · 600 · CAIXA ALTA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9244013"/>
            <a:ext cx="2636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BRAND BOOK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ÍCONES E ESTILO GRÁFICO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spc="-102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Traço fino, cantos suaves.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2163068"/>
            <a:ext cx="8844186" cy="6576120"/>
          </a:xfrm>
          <a:prstGeom prst="roundRect">
            <a:avLst>
              <a:gd name="adj" fmla="val 1738"/>
            </a:avLst>
          </a:prstGeom>
          <a:solidFill>
            <a:srgbClr val="E6F0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4195" y="3549923"/>
            <a:ext cx="704850" cy="7048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9936" y="3549923"/>
            <a:ext cx="704850" cy="70485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5751" y="3549923"/>
            <a:ext cx="704850" cy="70485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81566" y="3549923"/>
            <a:ext cx="704850" cy="704850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34195" y="6647483"/>
            <a:ext cx="704850" cy="704850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49936" y="6647483"/>
            <a:ext cx="704850" cy="704850"/>
          </a:xfrm>
          <a:prstGeom prst="rect">
            <a:avLst/>
          </a:prstGeom>
        </p:spPr>
      </p:pic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65751" y="6647483"/>
            <a:ext cx="704850" cy="704850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81566" y="6647483"/>
            <a:ext cx="704850" cy="704850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10539636" y="4303365"/>
            <a:ext cx="6510114" cy="14288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4" name="Text 4"/>
          <p:cNvSpPr/>
          <p:nvPr/>
        </p:nvSpPr>
        <p:spPr>
          <a:xfrm>
            <a:off x="10539636" y="4470053"/>
            <a:ext cx="71611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ícones</a:t>
            </a:r>
            <a:endParaRPr lang="en-US" sz="1650" dirty="0"/>
          </a:p>
        </p:txBody>
      </p:sp>
      <p:sp>
        <p:nvSpPr>
          <p:cNvPr id="15" name="Text 5"/>
          <p:cNvSpPr/>
          <p:nvPr/>
        </p:nvSpPr>
        <p:spPr>
          <a:xfrm>
            <a:off x="10539636" y="4784378"/>
            <a:ext cx="670541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Linha de 1,4 px, pontas e junções arredondadas, grade de 24 px. Apenas verde-floresta ou tinta. Sem preenchimento, sem emoji.</a:t>
            </a:r>
            <a:endParaRPr lang="en-US" sz="1500" dirty="0"/>
          </a:p>
        </p:txBody>
      </p:sp>
      <p:sp>
        <p:nvSpPr>
          <p:cNvPr id="16" name="Shape 6"/>
          <p:cNvSpPr/>
          <p:nvPr/>
        </p:nvSpPr>
        <p:spPr>
          <a:xfrm>
            <a:off x="10539636" y="5565428"/>
            <a:ext cx="6510114" cy="14288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7" name="Text 7"/>
          <p:cNvSpPr/>
          <p:nvPr/>
        </p:nvSpPr>
        <p:spPr>
          <a:xfrm>
            <a:off x="10539636" y="5732115"/>
            <a:ext cx="71611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motivo do raio</a:t>
            </a:r>
            <a:endParaRPr lang="en-US" sz="1650" dirty="0"/>
          </a:p>
        </p:txBody>
      </p:sp>
      <p:sp>
        <p:nvSpPr>
          <p:cNvPr id="18" name="Text 8"/>
          <p:cNvSpPr/>
          <p:nvPr/>
        </p:nvSpPr>
        <p:spPr>
          <a:xfrm>
            <a:off x="10539636" y="6046440"/>
            <a:ext cx="670541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símbolo vira marca-d’água sutil (opacidade 9–12%) no canto de capas e fechamentos. Nunca como decoração sobre texto.</a:t>
            </a:r>
            <a:endParaRPr lang="en-US" sz="1500" dirty="0"/>
          </a:p>
        </p:txBody>
      </p:sp>
      <p:sp>
        <p:nvSpPr>
          <p:cNvPr id="19" name="Shape 9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20" name="Text 10"/>
          <p:cNvSpPr/>
          <p:nvPr/>
        </p:nvSpPr>
        <p:spPr>
          <a:xfrm>
            <a:off x="1238250" y="9244013"/>
            <a:ext cx="2636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BRAND BOOK</a:t>
            </a:r>
            <a:endParaRPr lang="en-US" sz="1275" dirty="0"/>
          </a:p>
        </p:txBody>
      </p:sp>
      <p:sp>
        <p:nvSpPr>
          <p:cNvPr id="21" name="Text 11"/>
          <p:cNvSpPr/>
          <p:nvPr/>
        </p:nvSpPr>
        <p:spPr>
          <a:xfrm>
            <a:off x="16407854" y="9244013"/>
            <a:ext cx="71809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 · COMPONENTES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spc="-102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blocos da plataforma.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238250" y="2144018"/>
            <a:ext cx="560194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BOTÕES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38250" y="2548830"/>
            <a:ext cx="1827907" cy="514350"/>
          </a:xfrm>
          <a:prstGeom prst="roundRect">
            <a:avLst>
              <a:gd name="adj" fmla="val 18519"/>
            </a:avLst>
          </a:prstGeom>
          <a:solidFill>
            <a:srgbClr val="1F8A5B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2691705"/>
            <a:ext cx="13326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no chat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1238250" y="3196530"/>
            <a:ext cx="1718370" cy="504825"/>
          </a:xfrm>
          <a:prstGeom prst="roundRect">
            <a:avLst>
              <a:gd name="adj" fmla="val 18868"/>
            </a:avLst>
          </a:prstGeom>
          <a:ln w="14288">
            <a:solidFill>
              <a:srgbClr val="1F8A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9238" y="3334643"/>
            <a:ext cx="123259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a política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314450" y="3958530"/>
            <a:ext cx="8767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Cancelar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6597625" y="2144018"/>
            <a:ext cx="560194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CHIPS &amp; TAGS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97625" y="2548830"/>
            <a:ext cx="1465064" cy="409575"/>
          </a:xfrm>
          <a:prstGeom prst="roundRect">
            <a:avLst>
              <a:gd name="adj" fmla="val 50000"/>
            </a:avLst>
          </a:prstGeom>
          <a:solidFill>
            <a:srgbClr val="E6F0E7"/>
          </a:solidFill>
          <a:ln/>
        </p:spPr>
      </p:sp>
      <p:sp>
        <p:nvSpPr>
          <p:cNvPr id="12" name="Text 10"/>
          <p:cNvSpPr/>
          <p:nvPr/>
        </p:nvSpPr>
        <p:spPr>
          <a:xfrm>
            <a:off x="6769075" y="2634555"/>
            <a:ext cx="119836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Resumir texto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8176989" y="2548830"/>
            <a:ext cx="1745754" cy="409575"/>
          </a:xfrm>
          <a:prstGeom prst="roundRect">
            <a:avLst>
              <a:gd name="adj" fmla="val 50000"/>
            </a:avLst>
          </a:prstGeom>
          <a:solidFill>
            <a:srgbClr val="E6F0E7"/>
          </a:solidFill>
          <a:ln/>
        </p:spPr>
      </p:sp>
      <p:sp>
        <p:nvSpPr>
          <p:cNvPr id="14" name="Text 12"/>
          <p:cNvSpPr/>
          <p:nvPr/>
        </p:nvSpPr>
        <p:spPr>
          <a:xfrm>
            <a:off x="8348439" y="2634555"/>
            <a:ext cx="147905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Rascunhar e-mail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6597625" y="3148905"/>
            <a:ext cx="904056" cy="352425"/>
          </a:xfrm>
          <a:prstGeom prst="roundRect">
            <a:avLst>
              <a:gd name="adj" fmla="val 21622"/>
            </a:avLst>
          </a:prstGeom>
          <a:solidFill>
            <a:srgbClr val="1F8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750025" y="3225105"/>
            <a:ext cx="6754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Verde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15982" y="3148905"/>
            <a:ext cx="1084957" cy="352425"/>
          </a:xfrm>
          <a:prstGeom prst="roundRect">
            <a:avLst>
              <a:gd name="adj" fmla="val 21622"/>
            </a:avLst>
          </a:prstGeom>
          <a:solidFill>
            <a:srgbClr val="D8A23C"/>
          </a:solidFill>
          <a:ln/>
        </p:spPr>
      </p:sp>
      <p:sp>
        <p:nvSpPr>
          <p:cNvPr id="18" name="Text 16"/>
          <p:cNvSpPr/>
          <p:nvPr/>
        </p:nvSpPr>
        <p:spPr>
          <a:xfrm>
            <a:off x="7768382" y="3225105"/>
            <a:ext cx="85635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Amarela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815239" y="3148905"/>
            <a:ext cx="1180356" cy="352425"/>
          </a:xfrm>
          <a:prstGeom prst="roundRect">
            <a:avLst>
              <a:gd name="adj" fmla="val 21622"/>
            </a:avLst>
          </a:prstGeom>
          <a:solidFill>
            <a:srgbClr val="BF5340"/>
          </a:solidFill>
          <a:ln/>
        </p:spPr>
      </p:sp>
      <p:sp>
        <p:nvSpPr>
          <p:cNvPr id="20" name="Text 18"/>
          <p:cNvSpPr/>
          <p:nvPr/>
        </p:nvSpPr>
        <p:spPr>
          <a:xfrm>
            <a:off x="8967639" y="3225105"/>
            <a:ext cx="9517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Vermelha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957000" y="2144018"/>
            <a:ext cx="560202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90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DE ENTRADA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957000" y="2548830"/>
            <a:ext cx="509275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14288">
            <a:solidFill>
              <a:srgbClr val="D9D2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61788" y="2734568"/>
            <a:ext cx="51514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Pergunte alguma coisa…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161788" y="3217962"/>
            <a:ext cx="105496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Tarefa verde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463962" y="3115568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1F8A5B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559213" y="3210818"/>
            <a:ext cx="190500" cy="1905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11957000" y="3872805"/>
            <a:ext cx="5092750" cy="544785"/>
          </a:xfrm>
          <a:prstGeom prst="roundRect">
            <a:avLst>
              <a:gd name="adj" fmla="val 20981"/>
            </a:avLst>
          </a:prstGeom>
          <a:solidFill>
            <a:srgbClr val="F1EAD9"/>
          </a:solidFill>
          <a:ln/>
        </p:spPr>
      </p:sp>
      <p:sp>
        <p:nvSpPr>
          <p:cNvPr id="28" name="Text 25"/>
          <p:cNvSpPr/>
          <p:nvPr/>
        </p:nvSpPr>
        <p:spPr>
          <a:xfrm>
            <a:off x="12147500" y="4025205"/>
            <a:ext cx="4864532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de aviso: lembrete da política, sempre acessível.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30" name="Text 27"/>
          <p:cNvSpPr/>
          <p:nvPr/>
        </p:nvSpPr>
        <p:spPr>
          <a:xfrm>
            <a:off x="1238250" y="9244013"/>
            <a:ext cx="2636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BRAND BOOK</a:t>
            </a:r>
            <a:endParaRPr lang="en-US" sz="1275" dirty="0"/>
          </a:p>
        </p:txBody>
      </p:sp>
      <p:sp>
        <p:nvSpPr>
          <p:cNvPr id="31" name="Text 28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A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· A INTERFACE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spc="-102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GreenIA no dia a dia.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2124968"/>
            <a:ext cx="15811500" cy="6652320"/>
          </a:xfrm>
          <a:prstGeom prst="roundRect">
            <a:avLst>
              <a:gd name="adj" fmla="val 2291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  <a:effectLst>
            <a:outerShdw sx="100000" sy="100000" kx="0" ky="0" algn="bl" rotWithShape="0" blurRad="571500" dist="228600" dir="5400000">
              <a:srgbClr val="10281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7775" y="2134493"/>
            <a:ext cx="2857500" cy="6633270"/>
          </a:xfrm>
          <a:prstGeom prst="rect">
            <a:avLst/>
          </a:prstGeom>
          <a:solidFill>
            <a:srgbClr val="0F3A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95425" y="2420243"/>
            <a:ext cx="361950" cy="361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71675" y="2458343"/>
            <a:ext cx="108897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45" kern="0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pPr algn="l" indent="0" marL="0">
              <a:buNone/>
            </a:pPr>
            <a:r>
              <a:rPr lang="en-US" sz="2250" spc="-45" kern="0" dirty="0">
                <a:solidFill>
                  <a:srgbClr val="B9E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495425" y="3029843"/>
            <a:ext cx="2362200" cy="447675"/>
          </a:xfrm>
          <a:prstGeom prst="roundRect">
            <a:avLst>
              <a:gd name="adj" fmla="val 21277"/>
            </a:avLst>
          </a:prstGeom>
          <a:solidFill>
            <a:srgbClr val="B9E85A">
              <a:alpha val="16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647825" y="3153668"/>
            <a:ext cx="2133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6F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Nova conversa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95425" y="3725168"/>
            <a:ext cx="259842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35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RECENTES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1495425" y="4044255"/>
            <a:ext cx="259842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9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ata de reunião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495425" y="4401443"/>
            <a:ext cx="259842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9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Rascunho de e-mail ao cliente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495425" y="4758630"/>
            <a:ext cx="259842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9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tarefas da semana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495425" y="8339137"/>
            <a:ext cx="85725" cy="85725"/>
          </a:xfrm>
          <a:prstGeom prst="ellipse">
            <a:avLst/>
          </a:prstGeom>
          <a:solidFill>
            <a:srgbClr val="B9E85A"/>
          </a:solidFill>
          <a:ln/>
        </p:spPr>
      </p:sp>
      <p:sp>
        <p:nvSpPr>
          <p:cNvPr id="15" name="Text 12"/>
          <p:cNvSpPr/>
          <p:nvPr/>
        </p:nvSpPr>
        <p:spPr>
          <a:xfrm>
            <a:off x="1676400" y="8281987"/>
            <a:ext cx="161746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6F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Verde · uso livre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05275" y="2863155"/>
            <a:ext cx="1293495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7" name="Text 14"/>
          <p:cNvSpPr/>
          <p:nvPr/>
        </p:nvSpPr>
        <p:spPr>
          <a:xfrm>
            <a:off x="4429125" y="2379762"/>
            <a:ext cx="231937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do dia a dia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470907" y="2344043"/>
            <a:ext cx="1245468" cy="309563"/>
          </a:xfrm>
          <a:prstGeom prst="roundRect">
            <a:avLst>
              <a:gd name="adj" fmla="val 24615"/>
            </a:avLst>
          </a:prstGeom>
          <a:solidFill>
            <a:srgbClr val="1F8A5B"/>
          </a:solidFill>
          <a:ln/>
        </p:spPr>
      </p:sp>
      <p:sp>
        <p:nvSpPr>
          <p:cNvPr id="19" name="Text 16"/>
          <p:cNvSpPr/>
          <p:nvPr/>
        </p:nvSpPr>
        <p:spPr>
          <a:xfrm>
            <a:off x="15604257" y="2410718"/>
            <a:ext cx="105496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Tarefa verde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2176522" y="3158430"/>
            <a:ext cx="4539853" cy="552450"/>
          </a:xfrm>
          <a:prstGeom prst="roundRect">
            <a:avLst>
              <a:gd name="adj" fmla="val 24138"/>
            </a:avLst>
          </a:prstGeom>
          <a:solidFill>
            <a:srgbClr val="E6F0E7"/>
          </a:solidFill>
          <a:ln/>
        </p:spPr>
      </p:sp>
      <p:sp>
        <p:nvSpPr>
          <p:cNvPr id="21" name="Text 18"/>
          <p:cNvSpPr/>
          <p:nvPr/>
        </p:nvSpPr>
        <p:spPr>
          <a:xfrm>
            <a:off x="12367022" y="3310830"/>
            <a:ext cx="42950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Resuma este texto em três pontos para a equipe.</a:t>
            </a:r>
            <a:endParaRPr lang="en-US" sz="15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9125" y="3901380"/>
            <a:ext cx="276820" cy="32385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839295" y="3901380"/>
            <a:ext cx="843662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9525">
            <a:solidFill>
              <a:srgbClr val="D9D2C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39320" y="4063305"/>
            <a:ext cx="8289669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Claro. Aqui vão os três pontos principais, em linguagem simples para a equipe — prontos para colar no e-mail.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4105275" y="7567612"/>
            <a:ext cx="1293495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26" name="Shape 22"/>
          <p:cNvSpPr/>
          <p:nvPr/>
        </p:nvSpPr>
        <p:spPr>
          <a:xfrm>
            <a:off x="4429125" y="7805738"/>
            <a:ext cx="12287250" cy="733425"/>
          </a:xfrm>
          <a:prstGeom prst="roundRect">
            <a:avLst>
              <a:gd name="adj" fmla="val 15584"/>
            </a:avLst>
          </a:prstGeom>
          <a:ln w="14288">
            <a:solidFill>
              <a:srgbClr val="D9D2C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614863" y="8048625"/>
            <a:ext cx="223907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Pergunte alguma coisa…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16130588" y="7972425"/>
            <a:ext cx="400050" cy="400050"/>
          </a:xfrm>
          <a:prstGeom prst="roundRect">
            <a:avLst>
              <a:gd name="adj" fmla="val 23810"/>
            </a:avLst>
          </a:prstGeom>
          <a:solidFill>
            <a:srgbClr val="1F8A5B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35362" y="8077200"/>
            <a:ext cx="190500" cy="19050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CFC6B3"/>
          </a:solidFill>
          <a:ln/>
        </p:spPr>
      </p:sp>
      <p:sp>
        <p:nvSpPr>
          <p:cNvPr id="31" name="Text 26"/>
          <p:cNvSpPr/>
          <p:nvPr/>
        </p:nvSpPr>
        <p:spPr>
          <a:xfrm>
            <a:off x="1238250" y="9244013"/>
            <a:ext cx="2636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BRAND BOOK</a:t>
            </a:r>
            <a:endParaRPr lang="en-US" sz="1275" dirty="0"/>
          </a:p>
        </p:txBody>
      </p:sp>
      <p:sp>
        <p:nvSpPr>
          <p:cNvPr id="32" name="Text 27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57250"/>
            <a:ext cx="173926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252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E TOM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38250" y="1219200"/>
            <a:ext cx="17392650" cy="6581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spc="-102" kern="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Fale como gente.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1238250" y="2163068"/>
            <a:ext cx="7677150" cy="6576120"/>
          </a:xfrm>
          <a:prstGeom prst="roundRect">
            <a:avLst>
              <a:gd name="adj" fmla="val 1738"/>
            </a:avLst>
          </a:prstGeom>
          <a:solidFill>
            <a:srgbClr val="E6F0E7"/>
          </a:solidFill>
          <a:ln/>
        </p:spPr>
      </p:sp>
      <p:sp>
        <p:nvSpPr>
          <p:cNvPr id="5" name="Text 3"/>
          <p:cNvSpPr/>
          <p:nvPr/>
        </p:nvSpPr>
        <p:spPr>
          <a:xfrm>
            <a:off x="1619250" y="2544068"/>
            <a:ext cx="760666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assim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19250" y="3034605"/>
            <a:ext cx="712260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624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“Pronto! Resumi em três pontos. Quer que eu deixe mais curto?”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88783" y="4055566"/>
            <a:ext cx="6921818" cy="110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40017" indent="-140017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Frases curtas e diretas.</a:t>
            </a:r>
            <a:endParaRPr lang="en-US" sz="1575" dirty="0"/>
          </a:p>
          <a:p>
            <a:pPr algn="l" marL="140017" indent="-140017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simples, sem jargão técnico.</a:t>
            </a:r>
            <a:endParaRPr lang="en-US" sz="1575" dirty="0"/>
          </a:p>
          <a:p>
            <a:pPr algn="l" marL="140017" indent="-140017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16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Convida a continuar; trata o erro com calma.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9372600" y="2163068"/>
            <a:ext cx="7677150" cy="6576120"/>
          </a:xfrm>
          <a:prstGeom prst="roundRect">
            <a:avLst>
              <a:gd name="adj" fmla="val 1738"/>
            </a:avLst>
          </a:prstGeom>
          <a:solidFill>
            <a:srgbClr val="F1EAD9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2544068"/>
            <a:ext cx="760666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F5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53600" y="3034605"/>
            <a:ext cx="712260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6E6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“Processamento concluído. A solução robusta e escalável foi gerada com sucesso.”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23133" y="4055566"/>
            <a:ext cx="6921818" cy="110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40017" indent="-140017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Jargão e adjetivos vazios (“robusto”, “escalável”).</a:t>
            </a:r>
            <a:endParaRPr lang="en-US" sz="1575" dirty="0"/>
          </a:p>
          <a:p>
            <a:pPr algn="l" marL="140017" indent="-140017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frio e corporativo.</a:t>
            </a:r>
            <a:endParaRPr lang="en-US" sz="1575" dirty="0"/>
          </a:p>
          <a:p>
            <a:pPr algn="l" marL="140017" indent="-140017">
              <a:lnSpc>
                <a:spcPct val="140000"/>
              </a:lnSpc>
              <a:buSzPct val="100000"/>
              <a:buChar char="•"/>
              <a:tabLst>
                <a:tab pos="140017" algn="l"/>
              </a:tabLst>
            </a:pPr>
            <a:r>
              <a:rPr lang="en-US" sz="1575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Emoji em material institucional.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1238250" y="9063038"/>
            <a:ext cx="15811500" cy="9525"/>
          </a:xfrm>
          <a:prstGeom prst="rect">
            <a:avLst/>
          </a:prstGeom>
          <a:solidFill>
            <a:srgbClr val="D9D2C2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9244013"/>
            <a:ext cx="263664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BRAND BOOK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16395874" y="9244013"/>
            <a:ext cx="7300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79" kern="0" dirty="0">
                <a:solidFill>
                  <a:srgbClr val="6E6C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2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095500" y="-2286000"/>
            <a:ext cx="7239000" cy="7239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8250" y="1047750"/>
            <a:ext cx="800100" cy="800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66950" y="1085850"/>
            <a:ext cx="300949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spc="-114" kern="0" dirty="0">
                <a:solidFill>
                  <a:srgbClr val="FAF7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pPr algn="l" indent="0" marL="0">
              <a:buNone/>
            </a:pPr>
            <a:r>
              <a:rPr lang="en-US" sz="5700" spc="-114" kern="0" dirty="0">
                <a:solidFill>
                  <a:srgbClr val="B9E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5700" dirty="0"/>
          </a:p>
        </p:txBody>
      </p:sp>
      <p:sp>
        <p:nvSpPr>
          <p:cNvPr id="5" name="Text 1"/>
          <p:cNvSpPr/>
          <p:nvPr/>
        </p:nvSpPr>
        <p:spPr>
          <a:xfrm>
            <a:off x="1238250" y="4386932"/>
            <a:ext cx="12557760" cy="1894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4200" spc="-84" kern="0" dirty="0">
                <a:solidFill>
                  <a:srgbClr val="E9E0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política cresce junto com o uso. Começamos pelo essencial — e o resto chega quando fizer diferença de verdade.</a:t>
            </a:r>
            <a:endParaRPr lang="en-US" sz="4200" dirty="0"/>
          </a:p>
        </p:txBody>
      </p:sp>
      <p:sp>
        <p:nvSpPr>
          <p:cNvPr id="6" name="Shape 2"/>
          <p:cNvSpPr/>
          <p:nvPr/>
        </p:nvSpPr>
        <p:spPr>
          <a:xfrm>
            <a:off x="1238250" y="8782050"/>
            <a:ext cx="158115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1238250" y="9001125"/>
            <a:ext cx="443574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D6F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Dúvidas? Fale com o key user da sua área.</a:t>
            </a:r>
            <a:endParaRPr lang="en-US" sz="1425" dirty="0"/>
          </a:p>
        </p:txBody>
      </p:sp>
      <p:sp>
        <p:nvSpPr>
          <p:cNvPr id="8" name="Text 4"/>
          <p:cNvSpPr/>
          <p:nvPr/>
        </p:nvSpPr>
        <p:spPr>
          <a:xfrm>
            <a:off x="14357300" y="9001125"/>
            <a:ext cx="296169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D6F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GREENIA · CSC · v1.0 · 2026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2026-06-22T12:05:22Z</dcterms:created>
  <dcterms:modified xsi:type="dcterms:W3CDTF">2026-06-22T12:05:22Z</dcterms:modified>
</cp:coreProperties>
</file>